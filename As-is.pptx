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8" r:id="rId3"/>
    <p:sldId id="259" r:id="rId4"/>
    <p:sldId id="261" r:id="rId5"/>
    <p:sldId id="296" r:id="rId6"/>
    <p:sldId id="262" r:id="rId7"/>
    <p:sldId id="263" r:id="rId8"/>
    <p:sldId id="264" r:id="rId9"/>
    <p:sldId id="265" r:id="rId10"/>
    <p:sldId id="294" r:id="rId11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OPPOSans R"/>
        <a:ea typeface="OPPOSans R"/>
        <a:cs typeface="OPPOSans R"/>
        <a:sym typeface="OPPOSans R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OPPOSans R"/>
        <a:ea typeface="OPPOSans R"/>
        <a:cs typeface="OPPOSans R"/>
        <a:sym typeface="OPPOSans R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OPPOSans R"/>
        <a:ea typeface="OPPOSans R"/>
        <a:cs typeface="OPPOSans R"/>
        <a:sym typeface="OPPOSans R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OPPOSans R"/>
        <a:ea typeface="OPPOSans R"/>
        <a:cs typeface="OPPOSans R"/>
        <a:sym typeface="OPPOSans R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OPPOSans R"/>
        <a:ea typeface="OPPOSans R"/>
        <a:cs typeface="OPPOSans R"/>
        <a:sym typeface="OPPOSans R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OPPOSans R"/>
        <a:ea typeface="OPPOSans R"/>
        <a:cs typeface="OPPOSans R"/>
        <a:sym typeface="OPPOSans R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OPPOSans R"/>
        <a:ea typeface="OPPOSans R"/>
        <a:cs typeface="OPPOSans R"/>
        <a:sym typeface="OPPOSans R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OPPOSans R"/>
        <a:ea typeface="OPPOSans R"/>
        <a:cs typeface="OPPOSans R"/>
        <a:sym typeface="OPPOSans R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OPPOSans R"/>
        <a:ea typeface="OPPOSans R"/>
        <a:cs typeface="OPPOSans R"/>
        <a:sym typeface="OPPOSans R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OPPOSans R"/>
          <a:ea typeface="OPPOSans R"/>
          <a:cs typeface="OPPOSans R"/>
        </a:font>
        <a:srgbClr val="000000"/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OPPOSans R"/>
          <a:ea typeface="OPPOSans R"/>
          <a:cs typeface="OPPOSans R"/>
        </a:font>
        <a:schemeClr val="accent3">
          <a:lumOff val="44000"/>
        </a:schemeClr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OPPOSans R"/>
          <a:ea typeface="OPPOSans R"/>
          <a:cs typeface="OPPOSans R"/>
        </a:font>
        <a:schemeClr val="accent3">
          <a:lumOff val="44000"/>
        </a:schemeClr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381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OPPOSans R"/>
          <a:ea typeface="OPPOSans R"/>
          <a:cs typeface="OPPOSans R"/>
        </a:font>
        <a:schemeClr val="accent3">
          <a:lumOff val="44000"/>
        </a:schemeClr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381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OPPOSans R"/>
          <a:ea typeface="OPPOSans R"/>
          <a:cs typeface="OPPOSans R"/>
        </a:font>
        <a:srgbClr val="000000"/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chemeClr val="accent3">
              <a:lumOff val="44000"/>
            </a:schemeClr>
          </a:solidFill>
        </a:fill>
      </a:tcStyle>
    </a:wholeTbl>
    <a:band2H>
      <a:tcTxStyle/>
      <a:tcStyle>
        <a:tcBdr/>
        <a:fill>
          <a:solidFill>
            <a:schemeClr val="accent3">
              <a:lumOff val="44000"/>
            </a:schemeClr>
          </a:solidFill>
        </a:fill>
      </a:tcStyle>
    </a:band2H>
    <a:firstCol>
      <a:tcTxStyle b="on" i="off">
        <a:font>
          <a:latin typeface="OPPOSans R"/>
          <a:ea typeface="OPPOSans R"/>
          <a:cs typeface="OPPOSans R"/>
        </a:font>
        <a:schemeClr val="accent3">
          <a:lumOff val="44000"/>
        </a:schemeClr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chemeClr val="accent3">
              <a:lumOff val="44000"/>
            </a:schemeClr>
          </a:solidFill>
        </a:fill>
      </a:tcStyle>
    </a:firstCol>
    <a:lastRow>
      <a:tcTxStyle b="on" i="off">
        <a:font>
          <a:latin typeface="OPPOSans R"/>
          <a:ea typeface="OPPOSans R"/>
          <a:cs typeface="OPPOSans R"/>
        </a:font>
        <a:schemeClr val="accent3">
          <a:lumOff val="44000"/>
        </a:schemeClr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381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chemeClr val="accent3">
              <a:lumOff val="44000"/>
            </a:schemeClr>
          </a:solidFill>
        </a:fill>
      </a:tcStyle>
    </a:lastRow>
    <a:firstRow>
      <a:tcTxStyle b="on" i="off">
        <a:font>
          <a:latin typeface="OPPOSans R"/>
          <a:ea typeface="OPPOSans R"/>
          <a:cs typeface="OPPOSans R"/>
        </a:font>
        <a:schemeClr val="accent3">
          <a:lumOff val="44000"/>
        </a:schemeClr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381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chemeClr val="accent3">
              <a:lumOff val="44000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OPPOSans R"/>
          <a:ea typeface="OPPOSans R"/>
          <a:cs typeface="OPPOSans R"/>
        </a:font>
        <a:srgbClr val="000000"/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>
          <a:latin typeface="OPPOSans R"/>
          <a:ea typeface="OPPOSans R"/>
          <a:cs typeface="OPPOSans R"/>
        </a:font>
        <a:schemeClr val="accent3">
          <a:lumOff val="44000"/>
        </a:schemeClr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OPPOSans R"/>
          <a:ea typeface="OPPOSans R"/>
          <a:cs typeface="OPPOSans R"/>
        </a:font>
        <a:schemeClr val="accent3">
          <a:lumOff val="44000"/>
        </a:schemeClr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381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OPPOSans R"/>
          <a:ea typeface="OPPOSans R"/>
          <a:cs typeface="OPPOSans R"/>
        </a:font>
        <a:schemeClr val="accent3">
          <a:lumOff val="44000"/>
        </a:schemeClr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381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OPPOSans R"/>
          <a:ea typeface="OPPOSans R"/>
          <a:cs typeface="OPPOSans R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chemeClr val="accent3">
              <a:lumOff val="44000"/>
            </a:schemeClr>
          </a:solidFill>
        </a:fill>
      </a:tcStyle>
    </a:band2H>
    <a:firstCol>
      <a:tcTxStyle b="on" i="off">
        <a:font>
          <a:latin typeface="OPPOSans R"/>
          <a:ea typeface="OPPOSans R"/>
          <a:cs typeface="OPPOSans R"/>
        </a:font>
        <a:schemeClr val="accent3">
          <a:lumOff val="44000"/>
        </a:schemeClr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OPPOSans R"/>
          <a:ea typeface="OPPOSans R"/>
          <a:cs typeface="OPPOSans R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3">
              <a:lumOff val="44000"/>
            </a:schemeClr>
          </a:solidFill>
        </a:fill>
      </a:tcStyle>
    </a:lastRow>
    <a:firstRow>
      <a:tcTxStyle b="on" i="off">
        <a:font>
          <a:latin typeface="OPPOSans R"/>
          <a:ea typeface="OPPOSans R"/>
          <a:cs typeface="OPPOSans R"/>
        </a:font>
        <a:schemeClr val="accent3">
          <a:lumOff val="44000"/>
        </a:schemeClr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00000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OPPOSans R"/>
          <a:ea typeface="OPPOSans R"/>
          <a:cs typeface="OPPOSans R"/>
        </a:font>
        <a:srgbClr val="000000"/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OPPOSans R"/>
          <a:ea typeface="OPPOSans R"/>
          <a:cs typeface="OPPOSans R"/>
        </a:font>
        <a:schemeClr val="accent3">
          <a:lumOff val="44000"/>
        </a:schemeClr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OPPOSans R"/>
          <a:ea typeface="OPPOSans R"/>
          <a:cs typeface="OPPOSans R"/>
        </a:font>
        <a:schemeClr val="accent3">
          <a:lumOff val="44000"/>
        </a:schemeClr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381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OPPOSans R"/>
          <a:ea typeface="OPPOSans R"/>
          <a:cs typeface="OPPOSans R"/>
        </a:font>
        <a:schemeClr val="accent3">
          <a:lumOff val="44000"/>
        </a:schemeClr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381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OPPOSans R"/>
          <a:ea typeface="OPPOSans R"/>
          <a:cs typeface="OPPOSans R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chemeClr val="accent3">
              <a:lumOff val="44000"/>
            </a:schemeClr>
          </a:solidFill>
        </a:fill>
      </a:tcStyle>
    </a:band2H>
    <a:firstCol>
      <a:tcTxStyle b="on" i="off">
        <a:font>
          <a:latin typeface="OPPOSans R"/>
          <a:ea typeface="OPPOSans R"/>
          <a:cs typeface="OPPOSans R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OPPOSans R"/>
          <a:ea typeface="OPPOSans R"/>
          <a:cs typeface="OPPOSans R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OPPOSans R"/>
          <a:ea typeface="OPPOSans R"/>
          <a:cs typeface="OPPOSans R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177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92" name="Shape 9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等线"/>
      </a:defRPr>
    </a:lvl1pPr>
    <a:lvl2pPr indent="228600" latinLnBrk="0">
      <a:defRPr sz="1200">
        <a:latin typeface="+mj-lt"/>
        <a:ea typeface="+mj-ea"/>
        <a:cs typeface="+mj-cs"/>
        <a:sym typeface="等线"/>
      </a:defRPr>
    </a:lvl2pPr>
    <a:lvl3pPr indent="457200" latinLnBrk="0">
      <a:defRPr sz="1200">
        <a:latin typeface="+mj-lt"/>
        <a:ea typeface="+mj-ea"/>
        <a:cs typeface="+mj-cs"/>
        <a:sym typeface="等线"/>
      </a:defRPr>
    </a:lvl3pPr>
    <a:lvl4pPr indent="685800" latinLnBrk="0">
      <a:defRPr sz="1200">
        <a:latin typeface="+mj-lt"/>
        <a:ea typeface="+mj-ea"/>
        <a:cs typeface="+mj-cs"/>
        <a:sym typeface="等线"/>
      </a:defRPr>
    </a:lvl4pPr>
    <a:lvl5pPr indent="914400" latinLnBrk="0">
      <a:defRPr sz="1200">
        <a:latin typeface="+mj-lt"/>
        <a:ea typeface="+mj-ea"/>
        <a:cs typeface="+mj-cs"/>
        <a:sym typeface="等线"/>
      </a:defRPr>
    </a:lvl5pPr>
    <a:lvl6pPr indent="1143000" latinLnBrk="0">
      <a:defRPr sz="1200">
        <a:latin typeface="+mj-lt"/>
        <a:ea typeface="+mj-ea"/>
        <a:cs typeface="+mj-cs"/>
        <a:sym typeface="等线"/>
      </a:defRPr>
    </a:lvl6pPr>
    <a:lvl7pPr indent="1371600" latinLnBrk="0">
      <a:defRPr sz="1200">
        <a:latin typeface="+mj-lt"/>
        <a:ea typeface="+mj-ea"/>
        <a:cs typeface="+mj-cs"/>
        <a:sym typeface="等线"/>
      </a:defRPr>
    </a:lvl7pPr>
    <a:lvl8pPr indent="1600200" latinLnBrk="0">
      <a:defRPr sz="1200">
        <a:latin typeface="+mj-lt"/>
        <a:ea typeface="+mj-ea"/>
        <a:cs typeface="+mj-cs"/>
        <a:sym typeface="等线"/>
      </a:defRPr>
    </a:lvl8pPr>
    <a:lvl9pPr indent="1828800" latinLnBrk="0">
      <a:defRPr sz="1200">
        <a:latin typeface="+mj-lt"/>
        <a:ea typeface="+mj-ea"/>
        <a:cs typeface="+mj-cs"/>
        <a:sym typeface="等线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제목 텍스트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제목 텍스트</a:t>
            </a:r>
          </a:p>
        </p:txBody>
      </p:sp>
      <p:sp>
        <p:nvSpPr>
          <p:cNvPr id="12" name="본문 첫 번째 줄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13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제목 텍스트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제목 텍스트</a:t>
            </a:r>
          </a:p>
        </p:txBody>
      </p:sp>
      <p:sp>
        <p:nvSpPr>
          <p:cNvPr id="21" name="본문 첫 번째 줄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2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제목 텍스트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제목 텍스트</a:t>
            </a:r>
          </a:p>
        </p:txBody>
      </p:sp>
      <p:sp>
        <p:nvSpPr>
          <p:cNvPr id="30" name="본문 첫 번째 줄…"/>
          <p:cNvSpPr txBox="1">
            <a:spLocks noGrp="1"/>
          </p:cNvSpPr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757575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757575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757575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757575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757575"/>
                </a:solidFill>
              </a:defRPr>
            </a:lvl5pPr>
          </a:lstStyle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31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제목 텍스트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제목 텍스트</a:t>
            </a:r>
          </a:p>
        </p:txBody>
      </p:sp>
      <p:sp>
        <p:nvSpPr>
          <p:cNvPr id="39" name="본문 첫 번째 줄…"/>
          <p:cNvSpPr txBox="1"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40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제목 텍스트"/>
          <p:cNvSpPr txBox="1">
            <a:spLocks noGrp="1"/>
          </p:cNvSpPr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/>
          <a:lstStyle/>
          <a:p>
            <a:r>
              <a:t>제목 텍스트</a:t>
            </a:r>
          </a:p>
        </p:txBody>
      </p:sp>
      <p:sp>
        <p:nvSpPr>
          <p:cNvPr id="48" name="본문 첫 번째 줄…"/>
          <p:cNvSpPr txBox="1">
            <a:spLocks noGrp="1"/>
          </p:cNvSpPr>
          <p:nvPr>
            <p:ph type="body" sz="quarter" idx="1"/>
          </p:nvPr>
        </p:nvSpPr>
        <p:spPr>
          <a:xfrm>
            <a:off x="839787" y="1681163"/>
            <a:ext cx="5157789" cy="823913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400" b="1"/>
            </a:lvl1pPr>
            <a:lvl2pPr marL="0" indent="457200">
              <a:buSzTx/>
              <a:buFontTx/>
              <a:buNone/>
              <a:defRPr sz="2400" b="1"/>
            </a:lvl2pPr>
            <a:lvl3pPr marL="0" indent="914400">
              <a:buSzTx/>
              <a:buFontTx/>
              <a:buNone/>
              <a:defRPr sz="2400" b="1"/>
            </a:lvl3pPr>
            <a:lvl4pPr marL="0" indent="1371600">
              <a:buSzTx/>
              <a:buFontTx/>
              <a:buNone/>
              <a:defRPr sz="2400" b="1"/>
            </a:lvl4pPr>
            <a:lvl5pPr marL="0" indent="1828800">
              <a:buSzTx/>
              <a:buFontTx/>
              <a:buNone/>
              <a:defRPr sz="2400" b="1"/>
            </a:lvl5pPr>
          </a:lstStyle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49" name="文本占位符 4"/>
          <p:cNvSpPr>
            <a:spLocks noGrp="1"/>
          </p:cNvSpPr>
          <p:nvPr>
            <p:ph type="body" sz="quarter" idx="21"/>
          </p:nvPr>
        </p:nvSpPr>
        <p:spPr>
          <a:xfrm>
            <a:off x="6172200" y="1681163"/>
            <a:ext cx="5183188" cy="823913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2400" b="1"/>
            </a:pPr>
            <a:endParaRPr/>
          </a:p>
        </p:txBody>
      </p:sp>
      <p:sp>
        <p:nvSpPr>
          <p:cNvPr id="50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제목 텍스트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제목 텍스트</a:t>
            </a:r>
          </a:p>
        </p:txBody>
      </p:sp>
      <p:sp>
        <p:nvSpPr>
          <p:cNvPr id="58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제목 텍스트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제목 텍스트</a:t>
            </a:r>
          </a:p>
        </p:txBody>
      </p:sp>
      <p:sp>
        <p:nvSpPr>
          <p:cNvPr id="73" name="본문 첫 번째 줄…"/>
          <p:cNvSpPr txBox="1">
            <a:spLocks noGrp="1"/>
          </p:cNvSpPr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74" name="文本占位符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  <a:endParaRPr/>
          </a:p>
        </p:txBody>
      </p:sp>
      <p:sp>
        <p:nvSpPr>
          <p:cNvPr id="75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제목 텍스트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제목 텍스트</a:t>
            </a:r>
          </a:p>
        </p:txBody>
      </p:sp>
      <p:sp>
        <p:nvSpPr>
          <p:cNvPr id="83" name="图片占位符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본문 첫 번째 줄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85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Off val="44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텍스트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제목 텍스트</a:t>
            </a:r>
          </a:p>
        </p:txBody>
      </p:sp>
      <p:sp>
        <p:nvSpPr>
          <p:cNvPr id="3" name="본문 첫 번째 줄…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/>
          <a:p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4" name="슬라이드 번호"/>
          <p:cNvSpPr txBox="1">
            <a:spLocks noGrp="1"/>
          </p:cNvSpPr>
          <p:nvPr>
            <p:ph type="sldNum" sz="quarter" idx="2"/>
          </p:nvPr>
        </p:nvSpPr>
        <p:spPr>
          <a:xfrm>
            <a:off x="11080144" y="6404292"/>
            <a:ext cx="273657" cy="2692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757575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OPPOSans H"/>
          <a:ea typeface="OPPOSans H"/>
          <a:cs typeface="OPPOSans H"/>
          <a:sym typeface="OPPOSans H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OPPOSans H"/>
          <a:ea typeface="OPPOSans H"/>
          <a:cs typeface="OPPOSans H"/>
          <a:sym typeface="OPPOSans H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OPPOSans H"/>
          <a:ea typeface="OPPOSans H"/>
          <a:cs typeface="OPPOSans H"/>
          <a:sym typeface="OPPOSans H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OPPOSans H"/>
          <a:ea typeface="OPPOSans H"/>
          <a:cs typeface="OPPOSans H"/>
          <a:sym typeface="OPPOSans H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OPPOSans H"/>
          <a:ea typeface="OPPOSans H"/>
          <a:cs typeface="OPPOSans H"/>
          <a:sym typeface="OPPOSans H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OPPOSans H"/>
          <a:ea typeface="OPPOSans H"/>
          <a:cs typeface="OPPOSans H"/>
          <a:sym typeface="OPPOSans H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OPPOSans H"/>
          <a:ea typeface="OPPOSans H"/>
          <a:cs typeface="OPPOSans H"/>
          <a:sym typeface="OPPOSans H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OPPOSans H"/>
          <a:ea typeface="OPPOSans H"/>
          <a:cs typeface="OPPOSans H"/>
          <a:sym typeface="OPPOSans H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OPPOSans H"/>
          <a:ea typeface="OPPOSans H"/>
          <a:cs typeface="OPPOSans H"/>
          <a:sym typeface="OPPOSans H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OPPOSans R"/>
          <a:ea typeface="OPPOSans R"/>
          <a:cs typeface="OPPOSans R"/>
          <a:sym typeface="OPPOSans R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OPPOSans R"/>
          <a:ea typeface="OPPOSans R"/>
          <a:cs typeface="OPPOSans R"/>
          <a:sym typeface="OPPOSans R"/>
        </a:defRPr>
      </a:lvl2pPr>
      <a:lvl3pPr marL="1234439" marR="0" indent="-32003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OPPOSans R"/>
          <a:ea typeface="OPPOSans R"/>
          <a:cs typeface="OPPOSans R"/>
          <a:sym typeface="OPPOSans R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OPPOSans R"/>
          <a:ea typeface="OPPOSans R"/>
          <a:cs typeface="OPPOSans R"/>
          <a:sym typeface="OPPOSans R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OPPOSans R"/>
          <a:ea typeface="OPPOSans R"/>
          <a:cs typeface="OPPOSans R"/>
          <a:sym typeface="OPPOSans R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OPPOSans R"/>
          <a:ea typeface="OPPOSans R"/>
          <a:cs typeface="OPPOSans R"/>
          <a:sym typeface="OPPOSans R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OPPOSans R"/>
          <a:ea typeface="OPPOSans R"/>
          <a:cs typeface="OPPOSans R"/>
          <a:sym typeface="OPPOSans R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OPPOSans R"/>
          <a:ea typeface="OPPOSans R"/>
          <a:cs typeface="OPPOSans R"/>
          <a:sym typeface="OPPOSans R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OPPOSans R"/>
          <a:ea typeface="OPPOSans R"/>
          <a:cs typeface="OPPOSans R"/>
          <a:sym typeface="OPPOSans R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OPPOSans R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OPPOSans R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OPPOSans R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OPPOSans R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OPPOSans R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OPPOSans R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OPPOSans R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OPPOSans R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OPPOSans R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任意多边形: 形状 17"/>
          <p:cNvSpPr/>
          <p:nvPr/>
        </p:nvSpPr>
        <p:spPr>
          <a:xfrm>
            <a:off x="7460342" y="0"/>
            <a:ext cx="4731658" cy="6858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779" h="21600" extrusionOk="0">
                <a:moveTo>
                  <a:pt x="13659" y="0"/>
                </a:moveTo>
                <a:lnTo>
                  <a:pt x="20779" y="0"/>
                </a:lnTo>
                <a:lnTo>
                  <a:pt x="20779" y="21600"/>
                </a:lnTo>
                <a:lnTo>
                  <a:pt x="8894" y="21600"/>
                </a:lnTo>
                <a:lnTo>
                  <a:pt x="10576" y="21344"/>
                </a:lnTo>
                <a:cubicBezTo>
                  <a:pt x="12342" y="21055"/>
                  <a:pt x="14076" y="20685"/>
                  <a:pt x="14654" y="20174"/>
                </a:cubicBezTo>
                <a:cubicBezTo>
                  <a:pt x="16197" y="18813"/>
                  <a:pt x="17893" y="15253"/>
                  <a:pt x="15939" y="14228"/>
                </a:cubicBezTo>
                <a:cubicBezTo>
                  <a:pt x="13986" y="13203"/>
                  <a:pt x="4980" y="14525"/>
                  <a:pt x="2932" y="14026"/>
                </a:cubicBezTo>
                <a:cubicBezTo>
                  <a:pt x="884" y="13527"/>
                  <a:pt x="1621" y="11814"/>
                  <a:pt x="3652" y="11234"/>
                </a:cubicBezTo>
                <a:cubicBezTo>
                  <a:pt x="5683" y="10655"/>
                  <a:pt x="13463" y="11545"/>
                  <a:pt x="15117" y="10547"/>
                </a:cubicBezTo>
                <a:cubicBezTo>
                  <a:pt x="16771" y="9549"/>
                  <a:pt x="15914" y="6144"/>
                  <a:pt x="13574" y="5247"/>
                </a:cubicBezTo>
                <a:cubicBezTo>
                  <a:pt x="11235" y="4351"/>
                  <a:pt x="2984" y="5585"/>
                  <a:pt x="1081" y="5167"/>
                </a:cubicBezTo>
                <a:cubicBezTo>
                  <a:pt x="-821" y="4749"/>
                  <a:pt x="-58" y="3178"/>
                  <a:pt x="2161" y="2739"/>
                </a:cubicBezTo>
                <a:cubicBezTo>
                  <a:pt x="4380" y="2301"/>
                  <a:pt x="12469" y="2982"/>
                  <a:pt x="14397" y="2537"/>
                </a:cubicBezTo>
                <a:cubicBezTo>
                  <a:pt x="16325" y="2092"/>
                  <a:pt x="14183" y="771"/>
                  <a:pt x="13729" y="69"/>
                </a:cubicBezTo>
                <a:close/>
              </a:path>
            </a:pathLst>
          </a:custGeom>
          <a:solidFill>
            <a:srgbClr val="000000">
              <a:alpha val="19000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chemeClr val="accent3">
                    <a:lumOff val="44000"/>
                  </a:schemeClr>
                </a:solidFill>
              </a:defRPr>
            </a:pPr>
            <a:endParaRPr/>
          </a:p>
        </p:txBody>
      </p:sp>
      <p:sp>
        <p:nvSpPr>
          <p:cNvPr id="95" name="椭圆 7"/>
          <p:cNvSpPr/>
          <p:nvPr/>
        </p:nvSpPr>
        <p:spPr>
          <a:xfrm>
            <a:off x="9027886" y="1866900"/>
            <a:ext cx="1219201" cy="1219200"/>
          </a:xfrm>
          <a:prstGeom prst="ellipse">
            <a:avLst/>
          </a:prstGeom>
          <a:solidFill>
            <a:srgbClr val="404040"/>
          </a:solidFill>
          <a:ln w="12700">
            <a:miter lim="400000"/>
          </a:ln>
          <a:effectLst>
            <a:outerShdw blurRad="63500" rotWithShape="0">
              <a:srgbClr val="000000">
                <a:alpha val="42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chemeClr val="accent3">
                    <a:lumOff val="44000"/>
                  </a:schemeClr>
                </a:solidFill>
              </a:defRPr>
            </a:pPr>
            <a:endParaRPr/>
          </a:p>
        </p:txBody>
      </p:sp>
      <p:sp>
        <p:nvSpPr>
          <p:cNvPr id="96" name="矩形: 圆角 8"/>
          <p:cNvSpPr/>
          <p:nvPr/>
        </p:nvSpPr>
        <p:spPr>
          <a:xfrm>
            <a:off x="9042399" y="5638798"/>
            <a:ext cx="1567544" cy="120064"/>
          </a:xfrm>
          <a:prstGeom prst="roundRect">
            <a:avLst>
              <a:gd name="adj" fmla="val 16667"/>
            </a:avLst>
          </a:prstGeom>
          <a:solidFill>
            <a:srgbClr val="BFBFB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chemeClr val="accent3">
                    <a:lumOff val="44000"/>
                  </a:schemeClr>
                </a:solidFill>
              </a:defRPr>
            </a:pPr>
            <a:endParaRPr/>
          </a:p>
        </p:txBody>
      </p:sp>
      <p:sp>
        <p:nvSpPr>
          <p:cNvPr id="97" name="任意多边形: 形状 26"/>
          <p:cNvSpPr/>
          <p:nvPr/>
        </p:nvSpPr>
        <p:spPr>
          <a:xfrm>
            <a:off x="1" y="6274370"/>
            <a:ext cx="958851" cy="5836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19194" y="0"/>
                </a:lnTo>
                <a:cubicBezTo>
                  <a:pt x="20523" y="0"/>
                  <a:pt x="21600" y="4825"/>
                  <a:pt x="21600" y="10778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chemeClr val="accent3">
                    <a:lumOff val="44000"/>
                  </a:schemeClr>
                </a:solidFill>
              </a:defRPr>
            </a:pPr>
            <a:endParaRPr/>
          </a:p>
        </p:txBody>
      </p:sp>
      <p:sp>
        <p:nvSpPr>
          <p:cNvPr id="98" name="Rectangle 10"/>
          <p:cNvSpPr txBox="1"/>
          <p:nvPr/>
        </p:nvSpPr>
        <p:spPr>
          <a:xfrm>
            <a:off x="865047" y="1860779"/>
            <a:ext cx="6937466" cy="6498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90000"/>
              </a:lnSpc>
              <a:defRPr sz="4000"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r>
              <a:rPr dirty="0" err="1"/>
              <a:t>AI커머스</a:t>
            </a:r>
            <a:r>
              <a:rPr dirty="0"/>
              <a:t> </a:t>
            </a:r>
            <a:r>
              <a:rPr dirty="0" err="1"/>
              <a:t>화제성</a:t>
            </a:r>
            <a:r>
              <a:rPr dirty="0"/>
              <a:t> </a:t>
            </a:r>
            <a:r>
              <a:rPr dirty="0" err="1"/>
              <a:t>키워드</a:t>
            </a:r>
            <a:r>
              <a:rPr dirty="0"/>
              <a:t> Agent</a:t>
            </a:r>
          </a:p>
        </p:txBody>
      </p:sp>
      <p:sp>
        <p:nvSpPr>
          <p:cNvPr id="99" name="Rounded Rectangle 3"/>
          <p:cNvSpPr/>
          <p:nvPr/>
        </p:nvSpPr>
        <p:spPr>
          <a:xfrm>
            <a:off x="823325" y="4100360"/>
            <a:ext cx="5911303" cy="1773656"/>
          </a:xfrm>
          <a:prstGeom prst="roundRect">
            <a:avLst>
              <a:gd name="adj" fmla="val 6317"/>
            </a:avLst>
          </a:prstGeom>
          <a:solidFill>
            <a:schemeClr val="accent3">
              <a:lumOff val="44000"/>
            </a:schemeClr>
          </a:solidFill>
          <a:ln w="12700">
            <a:miter lim="400000"/>
          </a:ln>
          <a:effectLst>
            <a:outerShdw blurRad="1016000" dist="381000" dir="2100000" rotWithShape="0">
              <a:srgbClr val="000000">
                <a:alpha val="1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100">
                <a:solidFill>
                  <a:schemeClr val="accent3">
                    <a:lumOff val="44000"/>
                  </a:schemeClr>
                </a:solidFill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endParaRPr/>
          </a:p>
        </p:txBody>
      </p:sp>
      <p:sp>
        <p:nvSpPr>
          <p:cNvPr id="100" name="标题 1"/>
          <p:cNvSpPr/>
          <p:nvPr/>
        </p:nvSpPr>
        <p:spPr>
          <a:xfrm>
            <a:off x="958850" y="1492356"/>
            <a:ext cx="1547214" cy="66734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10000"/>
              </a:lnSpc>
            </a:pPr>
            <a:endParaRPr/>
          </a:p>
        </p:txBody>
      </p:sp>
      <p:sp>
        <p:nvSpPr>
          <p:cNvPr id="101" name="标题 1"/>
          <p:cNvSpPr txBox="1"/>
          <p:nvPr/>
        </p:nvSpPr>
        <p:spPr>
          <a:xfrm>
            <a:off x="1200362" y="4996474"/>
            <a:ext cx="5373693" cy="4058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50000"/>
              </a:lnSpc>
              <a:defRPr sz="1200"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r>
              <a:t>AI Frontier. 커머스사업팀 권영은M</a:t>
            </a:r>
          </a:p>
          <a:p>
            <a:pPr>
              <a:lnSpc>
                <a:spcPct val="150000"/>
              </a:lnSpc>
              <a:defRPr sz="1200"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r>
              <a:t>Co-Frontier. 커머스사업팀 김보겸M / 홈쇼핑사업팀 김혜선M</a:t>
            </a:r>
          </a:p>
        </p:txBody>
      </p:sp>
      <p:sp>
        <p:nvSpPr>
          <p:cNvPr id="102" name="标题 1"/>
          <p:cNvSpPr txBox="1"/>
          <p:nvPr/>
        </p:nvSpPr>
        <p:spPr>
          <a:xfrm>
            <a:off x="9637486" y="5262195"/>
            <a:ext cx="972456" cy="1978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50000"/>
              </a:lnSpc>
              <a:defRPr sz="1400"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lvl1pPr>
          </a:lstStyle>
          <a:p>
            <a:r>
              <a:t>2026.08.19</a:t>
            </a:r>
          </a:p>
        </p:txBody>
      </p:sp>
      <p:sp>
        <p:nvSpPr>
          <p:cNvPr id="103" name="TextBox 4"/>
          <p:cNvSpPr txBox="1"/>
          <p:nvPr/>
        </p:nvSpPr>
        <p:spPr>
          <a:xfrm>
            <a:off x="1136753" y="4500226"/>
            <a:ext cx="6006165" cy="313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latin typeface="나눔스퀘어OTF Bold"/>
                <a:ea typeface="나눔스퀘어OTF Bold"/>
                <a:cs typeface="나눔스퀘어OTF Bold"/>
                <a:sym typeface="나눔스퀘어OTF Bold"/>
              </a:defRPr>
            </a:lvl1pPr>
          </a:lstStyle>
          <a:p>
            <a:r>
              <a:t>커머스광고담당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文本框 28"/>
          <p:cNvSpPr txBox="1"/>
          <p:nvPr/>
        </p:nvSpPr>
        <p:spPr>
          <a:xfrm>
            <a:off x="760762" y="1178717"/>
            <a:ext cx="8876443" cy="647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4000">
                <a:latin typeface="나눔스퀘어OTF Bold"/>
                <a:ea typeface="나눔스퀘어OTF Bold"/>
                <a:cs typeface="나눔스퀘어OTF Bold"/>
                <a:sym typeface="나눔스퀘어OTF Bold"/>
              </a:defRPr>
            </a:lvl1pPr>
          </a:lstStyle>
          <a:p>
            <a:r>
              <a:t>기대 효과</a:t>
            </a:r>
          </a:p>
        </p:txBody>
      </p:sp>
      <p:sp>
        <p:nvSpPr>
          <p:cNvPr id="131" name="标题 1"/>
          <p:cNvSpPr/>
          <p:nvPr/>
        </p:nvSpPr>
        <p:spPr>
          <a:xfrm>
            <a:off x="500839" y="2572522"/>
            <a:ext cx="5264151" cy="2894828"/>
          </a:xfrm>
          <a:prstGeom prst="roundRect">
            <a:avLst>
              <a:gd name="adj" fmla="val 8025"/>
            </a:avLst>
          </a:prstGeom>
          <a:solidFill>
            <a:srgbClr val="F2F2F2">
              <a:alpha val="79000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10000"/>
              </a:lnSpc>
              <a:defRPr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endParaRPr/>
          </a:p>
        </p:txBody>
      </p:sp>
      <p:sp>
        <p:nvSpPr>
          <p:cNvPr id="132" name="标题 1"/>
          <p:cNvSpPr/>
          <p:nvPr/>
        </p:nvSpPr>
        <p:spPr>
          <a:xfrm>
            <a:off x="933696" y="3051810"/>
            <a:ext cx="4297893" cy="643890"/>
          </a:xfrm>
          <a:prstGeom prst="roundRect">
            <a:avLst>
              <a:gd name="adj" fmla="val 16667"/>
            </a:avLst>
          </a:prstGeom>
          <a:gradFill>
            <a:gsLst>
              <a:gs pos="1000">
                <a:srgbClr val="000000"/>
              </a:gs>
              <a:gs pos="100000">
                <a:srgbClr val="000000"/>
              </a:gs>
            </a:gsLst>
            <a:lin ang="18900000"/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10000"/>
              </a:lnSpc>
              <a:defRPr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endParaRPr/>
          </a:p>
        </p:txBody>
      </p:sp>
      <p:sp>
        <p:nvSpPr>
          <p:cNvPr id="133" name="标题 1"/>
          <p:cNvSpPr txBox="1"/>
          <p:nvPr/>
        </p:nvSpPr>
        <p:spPr>
          <a:xfrm>
            <a:off x="983968" y="3996030"/>
            <a:ext cx="4297893" cy="5623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marL="285750" indent="-285750">
              <a:lnSpc>
                <a:spcPct val="150000"/>
              </a:lnSpc>
              <a:buSzPct val="100000"/>
              <a:buChar char="-"/>
              <a:defRPr sz="1600"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r>
              <a:t>반복업무 자동화를 통한 운용 리소스 절감</a:t>
            </a:r>
          </a:p>
          <a:p>
            <a:pPr marL="285750" indent="-285750">
              <a:lnSpc>
                <a:spcPct val="150000"/>
              </a:lnSpc>
              <a:buSzPct val="100000"/>
              <a:buChar char="-"/>
              <a:defRPr sz="1600"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r>
              <a:t>AI 커머스광고/홈쇼핑 마케팅 효율 개선</a:t>
            </a:r>
          </a:p>
        </p:txBody>
      </p:sp>
      <p:sp>
        <p:nvSpPr>
          <p:cNvPr id="134" name="标题 1"/>
          <p:cNvSpPr txBox="1"/>
          <p:nvPr/>
        </p:nvSpPr>
        <p:spPr>
          <a:xfrm>
            <a:off x="1143043" y="3188407"/>
            <a:ext cx="4055942" cy="2598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0000"/>
              </a:lnSpc>
              <a:defRPr>
                <a:solidFill>
                  <a:schemeClr val="accent3">
                    <a:lumOff val="44000"/>
                  </a:schemeClr>
                </a:solidFill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lvl1pPr>
          </a:lstStyle>
          <a:p>
            <a:r>
              <a:rPr dirty="0" err="1"/>
              <a:t>효율성</a:t>
            </a:r>
            <a:r>
              <a:rPr dirty="0"/>
              <a:t> </a:t>
            </a:r>
            <a:r>
              <a:rPr dirty="0" err="1"/>
              <a:t>강화</a:t>
            </a:r>
            <a:endParaRPr dirty="0"/>
          </a:p>
        </p:txBody>
      </p:sp>
      <p:sp>
        <p:nvSpPr>
          <p:cNvPr id="135" name="标题 1"/>
          <p:cNvSpPr/>
          <p:nvPr/>
        </p:nvSpPr>
        <p:spPr>
          <a:xfrm>
            <a:off x="6407194" y="2572522"/>
            <a:ext cx="5264151" cy="2894828"/>
          </a:xfrm>
          <a:prstGeom prst="roundRect">
            <a:avLst>
              <a:gd name="adj" fmla="val 8025"/>
            </a:avLst>
          </a:prstGeom>
          <a:solidFill>
            <a:srgbClr val="F2F2F2">
              <a:alpha val="79000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10000"/>
              </a:lnSpc>
              <a:defRPr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endParaRPr/>
          </a:p>
        </p:txBody>
      </p:sp>
      <p:sp>
        <p:nvSpPr>
          <p:cNvPr id="136" name="标题 1"/>
          <p:cNvSpPr/>
          <p:nvPr/>
        </p:nvSpPr>
        <p:spPr>
          <a:xfrm>
            <a:off x="6840052" y="3051810"/>
            <a:ext cx="4297893" cy="643890"/>
          </a:xfrm>
          <a:prstGeom prst="roundRect">
            <a:avLst>
              <a:gd name="adj" fmla="val 16667"/>
            </a:avLst>
          </a:prstGeom>
          <a:gradFill>
            <a:gsLst>
              <a:gs pos="1000">
                <a:srgbClr val="000000"/>
              </a:gs>
              <a:gs pos="100000">
                <a:srgbClr val="000000"/>
              </a:gs>
            </a:gsLst>
            <a:lin ang="18900000"/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10000"/>
              </a:lnSpc>
              <a:defRPr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endParaRPr/>
          </a:p>
        </p:txBody>
      </p:sp>
      <p:sp>
        <p:nvSpPr>
          <p:cNvPr id="137" name="标题 1"/>
          <p:cNvSpPr txBox="1"/>
          <p:nvPr/>
        </p:nvSpPr>
        <p:spPr>
          <a:xfrm>
            <a:off x="6890322" y="3996030"/>
            <a:ext cx="4297893" cy="5623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marL="285750" indent="-285750">
              <a:lnSpc>
                <a:spcPct val="150000"/>
              </a:lnSpc>
              <a:buSzPct val="100000"/>
              <a:buChar char="-"/>
              <a:defRPr sz="1600"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r>
              <a:t>AI Agent를 통한 Data 활용 능력 편차 최소화로</a:t>
            </a:r>
            <a:br/>
            <a:r>
              <a:t>대외 마케팅 대응 Quality 개선</a:t>
            </a:r>
          </a:p>
        </p:txBody>
      </p:sp>
      <p:sp>
        <p:nvSpPr>
          <p:cNvPr id="138" name="标题 1"/>
          <p:cNvSpPr txBox="1"/>
          <p:nvPr/>
        </p:nvSpPr>
        <p:spPr>
          <a:xfrm>
            <a:off x="7049399" y="3188407"/>
            <a:ext cx="4055941" cy="2598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30000"/>
              </a:lnSpc>
              <a:defRPr>
                <a:solidFill>
                  <a:schemeClr val="accent3">
                    <a:lumOff val="44000"/>
                  </a:schemeClr>
                </a:solidFill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r>
              <a:t>Pain-Point 개선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文本框 5"/>
          <p:cNvSpPr txBox="1"/>
          <p:nvPr/>
        </p:nvSpPr>
        <p:spPr>
          <a:xfrm>
            <a:off x="847025" y="3058500"/>
            <a:ext cx="4840399" cy="647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4000">
                <a:latin typeface="나눔스퀘어OTF Bold"/>
                <a:ea typeface="나눔스퀘어OTF Bold"/>
                <a:cs typeface="나눔스퀘어OTF Bold"/>
                <a:sym typeface="나눔스퀘어OTF Bold"/>
              </a:defRPr>
            </a:lvl1pPr>
          </a:lstStyle>
          <a:p>
            <a:r>
              <a:t>커머스사업팀</a:t>
            </a:r>
          </a:p>
        </p:txBody>
      </p:sp>
      <p:sp>
        <p:nvSpPr>
          <p:cNvPr id="141" name="矩形: 圆角 1"/>
          <p:cNvSpPr/>
          <p:nvPr/>
        </p:nvSpPr>
        <p:spPr>
          <a:xfrm>
            <a:off x="0" y="2452008"/>
            <a:ext cx="1872344" cy="203201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 w="19050">
            <a:solidFill>
              <a:srgbClr val="000000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chemeClr val="accent3">
                    <a:lumOff val="44000"/>
                  </a:schemeClr>
                </a:solidFill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endParaRPr/>
          </a:p>
        </p:txBody>
      </p:sp>
      <p:sp>
        <p:nvSpPr>
          <p:cNvPr id="142" name="Rounded Rectangle 11"/>
          <p:cNvSpPr/>
          <p:nvPr/>
        </p:nvSpPr>
        <p:spPr>
          <a:xfrm>
            <a:off x="5482645" y="710342"/>
            <a:ext cx="1440260" cy="2380074"/>
          </a:xfrm>
          <a:prstGeom prst="roundRect">
            <a:avLst>
              <a:gd name="adj" fmla="val 4258"/>
            </a:avLst>
          </a:prstGeom>
          <a:solidFill>
            <a:srgbClr val="000000"/>
          </a:solidFill>
          <a:ln w="12700">
            <a:miter lim="400000"/>
          </a:ln>
          <a:effectLst>
            <a:outerShdw blurRad="1016000" dist="381000" dir="2100000" rotWithShape="0">
              <a:srgbClr val="000000">
                <a:alpha val="1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100">
                <a:solidFill>
                  <a:schemeClr val="accent3">
                    <a:lumOff val="44000"/>
                  </a:schemeClr>
                </a:solidFill>
                <a:latin typeface="OPPOSans H"/>
                <a:ea typeface="OPPOSans H"/>
                <a:cs typeface="OPPOSans H"/>
                <a:sym typeface="OPPOSans H"/>
              </a:defRPr>
            </a:pPr>
            <a:endParaRPr/>
          </a:p>
        </p:txBody>
      </p:sp>
      <p:sp>
        <p:nvSpPr>
          <p:cNvPr id="143" name="Rounded Rectangle 3"/>
          <p:cNvSpPr/>
          <p:nvPr/>
        </p:nvSpPr>
        <p:spPr>
          <a:xfrm>
            <a:off x="5733143" y="1288017"/>
            <a:ext cx="5871102" cy="4967641"/>
          </a:xfrm>
          <a:prstGeom prst="roundRect">
            <a:avLst>
              <a:gd name="adj" fmla="val 6317"/>
            </a:avLst>
          </a:prstGeom>
          <a:solidFill>
            <a:schemeClr val="accent3">
              <a:lumOff val="44000"/>
            </a:schemeClr>
          </a:solidFill>
          <a:ln w="12700">
            <a:miter lim="400000"/>
          </a:ln>
          <a:effectLst>
            <a:outerShdw blurRad="1016000" dist="381000" dir="2100000" rotWithShape="0">
              <a:srgbClr val="000000">
                <a:alpha val="15000"/>
              </a:srgbClr>
            </a:outerShdw>
          </a:effectLst>
        </p:spPr>
        <p:txBody>
          <a:bodyPr lIns="45719" rIns="45719" anchor="ctr"/>
          <a:lstStyle/>
          <a:p>
            <a:pPr algn="ctr">
              <a:defRPr sz="1100">
                <a:solidFill>
                  <a:schemeClr val="accent3">
                    <a:lumOff val="44000"/>
                  </a:schemeClr>
                </a:solidFill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endParaRPr/>
          </a:p>
        </p:txBody>
      </p:sp>
      <p:sp>
        <p:nvSpPr>
          <p:cNvPr id="144" name="标题 1"/>
          <p:cNvSpPr txBox="1"/>
          <p:nvPr/>
        </p:nvSpPr>
        <p:spPr>
          <a:xfrm>
            <a:off x="6224892" y="2438518"/>
            <a:ext cx="4922080" cy="8021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50000"/>
              </a:lnSpc>
              <a:defRPr sz="1400"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r>
              <a:t>TV를 보다가 궁금한 상품이 생겼을 때,</a:t>
            </a:r>
          </a:p>
          <a:p>
            <a:pPr>
              <a:lnSpc>
                <a:spcPct val="150000"/>
              </a:lnSpc>
              <a:defRPr sz="1400"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r>
              <a:t>리모컨 블루키 또는 음성 “저건 뭐야” 를 통해</a:t>
            </a:r>
          </a:p>
          <a:p>
            <a:pPr>
              <a:lnSpc>
                <a:spcPct val="150000"/>
              </a:lnSpc>
              <a:defRPr sz="1400"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r>
              <a:t>AI가 분석한 화면 속 상품을 네이버+ 스토어 링크로 전달!</a:t>
            </a:r>
          </a:p>
        </p:txBody>
      </p:sp>
      <p:sp>
        <p:nvSpPr>
          <p:cNvPr id="145" name="标题 1"/>
          <p:cNvSpPr txBox="1"/>
          <p:nvPr/>
        </p:nvSpPr>
        <p:spPr>
          <a:xfrm>
            <a:off x="6224892" y="1954643"/>
            <a:ext cx="4922080" cy="2598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30000"/>
              </a:lnSpc>
              <a:defRPr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r>
              <a:t>AI 커머스광고 서비스</a:t>
            </a:r>
          </a:p>
        </p:txBody>
      </p:sp>
      <p:sp>
        <p:nvSpPr>
          <p:cNvPr id="146" name="标题 1"/>
          <p:cNvSpPr txBox="1"/>
          <p:nvPr/>
        </p:nvSpPr>
        <p:spPr>
          <a:xfrm>
            <a:off x="6224892" y="4556402"/>
            <a:ext cx="4922080" cy="500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50000"/>
              </a:lnSpc>
              <a:defRPr sz="1400"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r>
              <a:t>방송에서 이슈가 된/될법한 화제의 아이템을 선정하여</a:t>
            </a:r>
          </a:p>
          <a:p>
            <a:pPr>
              <a:lnSpc>
                <a:spcPct val="150000"/>
              </a:lnSpc>
              <a:defRPr sz="1400"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r>
              <a:t>가장 먼저 고객의 결과 화면에 노출시키는 키워드</a:t>
            </a:r>
          </a:p>
        </p:txBody>
      </p:sp>
      <p:sp>
        <p:nvSpPr>
          <p:cNvPr id="147" name="标题 1"/>
          <p:cNvSpPr txBox="1"/>
          <p:nvPr/>
        </p:nvSpPr>
        <p:spPr>
          <a:xfrm>
            <a:off x="6224892" y="4129678"/>
            <a:ext cx="4055941" cy="2598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0000"/>
              </a:lnSpc>
              <a:defRPr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lvl1pPr>
          </a:lstStyle>
          <a:p>
            <a:r>
              <a:t>매뉴얼 키워드</a:t>
            </a:r>
          </a:p>
        </p:txBody>
      </p:sp>
      <p:pic>
        <p:nvPicPr>
          <p:cNvPr id="148" name="그림 10" descr="그림 10"/>
          <p:cNvPicPr>
            <a:picLocks noChangeAspect="1"/>
          </p:cNvPicPr>
          <p:nvPr/>
        </p:nvPicPr>
        <p:blipFill>
          <a:blip r:embed="rId2"/>
          <a:srcRect t="33827" b="59807"/>
          <a:stretch>
            <a:fillRect/>
          </a:stretch>
        </p:blipFill>
        <p:spPr>
          <a:xfrm>
            <a:off x="6045773" y="5247001"/>
            <a:ext cx="3810496" cy="52585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ACE98FEF-A3C8-8E70-7B18-0A3A50E2B9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7421" y="1274084"/>
            <a:ext cx="8624871" cy="4913482"/>
          </a:xfrm>
          <a:prstGeom prst="rect">
            <a:avLst/>
          </a:prstGeom>
        </p:spPr>
      </p:pic>
      <p:sp>
        <p:nvSpPr>
          <p:cNvPr id="6" name="矩形: 圆角 1">
            <a:extLst>
              <a:ext uri="{FF2B5EF4-FFF2-40B4-BE49-F238E27FC236}">
                <a16:creationId xmlns:a16="http://schemas.microsoft.com/office/drawing/2014/main" id="{1A467938-F774-27A1-1280-4E81DA98E478}"/>
              </a:ext>
            </a:extLst>
          </p:cNvPr>
          <p:cNvSpPr/>
          <p:nvPr/>
        </p:nvSpPr>
        <p:spPr>
          <a:xfrm>
            <a:off x="0" y="1070883"/>
            <a:ext cx="1872344" cy="203201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 w="19050">
            <a:solidFill>
              <a:srgbClr val="000000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chemeClr val="accent3">
                    <a:lumOff val="44000"/>
                  </a:schemeClr>
                </a:solidFill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2D0066-3BD7-6C8F-CDD1-09F144988613}"/>
              </a:ext>
            </a:extLst>
          </p:cNvPr>
          <p:cNvSpPr txBox="1"/>
          <p:nvPr/>
        </p:nvSpPr>
        <p:spPr>
          <a:xfrm>
            <a:off x="364331" y="391596"/>
            <a:ext cx="6100762" cy="5232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altLang="ko-KR" sz="2800" dirty="0">
                <a:latin typeface="나눔스퀘어OTF" panose="020B0600000101010101" pitchFamily="34" charset="-127"/>
                <a:ea typeface="나눔스퀘어OTF" panose="020B0600000101010101" pitchFamily="34" charset="-127"/>
              </a:rPr>
              <a:t>Vision</a:t>
            </a:r>
            <a:r>
              <a:rPr lang="ko-KR" altLang="en-US" sz="2800" dirty="0">
                <a:latin typeface="나눔스퀘어OTF" panose="020B0600000101010101" pitchFamily="34" charset="-127"/>
                <a:ea typeface="나눔스퀘어OTF" panose="020B0600000101010101" pitchFamily="34" charset="-127"/>
              </a:rPr>
              <a:t> </a:t>
            </a:r>
            <a:r>
              <a:rPr lang="en-US" altLang="ko-KR" sz="2800" dirty="0">
                <a:latin typeface="나눔스퀘어OTF" panose="020B0600000101010101" pitchFamily="34" charset="-127"/>
                <a:ea typeface="나눔스퀘어OTF" panose="020B0600000101010101" pitchFamily="34" charset="-127"/>
              </a:rPr>
              <a:t>AI</a:t>
            </a:r>
            <a:r>
              <a:rPr lang="ko-KR" altLang="en-US" sz="2800" dirty="0">
                <a:latin typeface="나눔스퀘어OTF" panose="020B0600000101010101" pitchFamily="34" charset="-127"/>
                <a:ea typeface="나눔스퀘어OTF" panose="020B0600000101010101" pitchFamily="34" charset="-127"/>
              </a:rPr>
              <a:t> 를 활용한 화면 분석 사례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8EA95-27FE-E230-72F3-8868375C5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5" descr="그림 5">
            <a:extLst>
              <a:ext uri="{FF2B5EF4-FFF2-40B4-BE49-F238E27FC236}">
                <a16:creationId xmlns:a16="http://schemas.microsoft.com/office/drawing/2014/main" id="{C2B2661D-1273-E54B-D225-6893F55148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4175" y="1316616"/>
            <a:ext cx="8625600" cy="4851900"/>
          </a:xfrm>
          <a:prstGeom prst="rect">
            <a:avLst/>
          </a:prstGeom>
          <a:ln w="12700">
            <a:miter lim="400000"/>
          </a:ln>
        </p:spPr>
      </p:pic>
      <p:sp>
        <p:nvSpPr>
          <p:cNvPr id="6" name="矩形: 圆角 1">
            <a:extLst>
              <a:ext uri="{FF2B5EF4-FFF2-40B4-BE49-F238E27FC236}">
                <a16:creationId xmlns:a16="http://schemas.microsoft.com/office/drawing/2014/main" id="{51DA792B-9CFB-8B48-1F17-6F214DD15E73}"/>
              </a:ext>
            </a:extLst>
          </p:cNvPr>
          <p:cNvSpPr/>
          <p:nvPr/>
        </p:nvSpPr>
        <p:spPr>
          <a:xfrm>
            <a:off x="0" y="1070883"/>
            <a:ext cx="1872344" cy="203201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 w="19050">
            <a:solidFill>
              <a:srgbClr val="000000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chemeClr val="accent3">
                    <a:lumOff val="44000"/>
                  </a:schemeClr>
                </a:solidFill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04905C-0AB8-6290-7806-4E7D5270F05A}"/>
              </a:ext>
            </a:extLst>
          </p:cNvPr>
          <p:cNvSpPr txBox="1"/>
          <p:nvPr/>
        </p:nvSpPr>
        <p:spPr>
          <a:xfrm>
            <a:off x="364331" y="391596"/>
            <a:ext cx="6807994" cy="5232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altLang="ko-KR" sz="2800" dirty="0">
                <a:latin typeface="나눔스퀘어OTF" panose="020B0600000101010101" pitchFamily="34" charset="-127"/>
                <a:ea typeface="나눔스퀘어OTF" panose="020B0600000101010101" pitchFamily="34" charset="-127"/>
              </a:rPr>
              <a:t>B tv </a:t>
            </a:r>
            <a:r>
              <a:rPr lang="ko-KR" altLang="en-US" sz="2800" dirty="0">
                <a:latin typeface="나눔스퀘어OTF" panose="020B0600000101010101" pitchFamily="34" charset="-127"/>
                <a:ea typeface="나눔스퀘어OTF" panose="020B0600000101010101" pitchFamily="34" charset="-127"/>
              </a:rPr>
              <a:t>결과화면 내 매뉴얼 키워드</a:t>
            </a:r>
            <a:r>
              <a:rPr lang="en-US" altLang="ko-KR" sz="2800" dirty="0">
                <a:latin typeface="나눔스퀘어OTF" panose="020B0600000101010101" pitchFamily="34" charset="-127"/>
                <a:ea typeface="나눔스퀘어OTF" panose="020B0600000101010101" pitchFamily="34" charset="-127"/>
              </a:rPr>
              <a:t> </a:t>
            </a:r>
            <a:r>
              <a:rPr lang="ko-KR" altLang="en-US" sz="2800" dirty="0">
                <a:latin typeface="나눔스퀘어OTF" panose="020B0600000101010101" pitchFamily="34" charset="-127"/>
                <a:ea typeface="나눔스퀘어OTF" panose="020B0600000101010101" pitchFamily="34" charset="-127"/>
              </a:rPr>
              <a:t>노출 형상</a:t>
            </a:r>
          </a:p>
        </p:txBody>
      </p:sp>
    </p:spTree>
    <p:extLst>
      <p:ext uri="{BB962C8B-B14F-4D97-AF65-F5344CB8AC3E}">
        <p14:creationId xmlns:p14="http://schemas.microsoft.com/office/powerpoint/2010/main" val="3920641588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그림 2" descr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04" y="2572034"/>
            <a:ext cx="5245840" cy="3659186"/>
          </a:xfrm>
          <a:prstGeom prst="rect">
            <a:avLst/>
          </a:prstGeom>
          <a:ln w="12700">
            <a:miter lim="400000"/>
          </a:ln>
        </p:spPr>
      </p:pic>
      <p:sp>
        <p:nvSpPr>
          <p:cNvPr id="157" name="文本框 28"/>
          <p:cNvSpPr txBox="1"/>
          <p:nvPr/>
        </p:nvSpPr>
        <p:spPr>
          <a:xfrm>
            <a:off x="694424" y="799859"/>
            <a:ext cx="8876443" cy="707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4000">
                <a:latin typeface="나눔스퀘어OTF Bold"/>
                <a:ea typeface="나눔스퀘어OTF Bold"/>
                <a:cs typeface="나눔스퀘어OTF Bold"/>
                <a:sym typeface="나눔스퀘어OTF Bold"/>
              </a:defRPr>
            </a:lvl1pPr>
          </a:lstStyle>
          <a:p>
            <a:r>
              <a:rPr lang="ko-KR" altLang="en-US" dirty="0"/>
              <a:t>매뉴얼 키워드 등록 </a:t>
            </a:r>
            <a:r>
              <a:rPr dirty="0" err="1"/>
              <a:t>방식</a:t>
            </a:r>
            <a:r>
              <a:rPr lang="en-US" dirty="0"/>
              <a:t> (As-is)</a:t>
            </a:r>
            <a:endParaRPr dirty="0"/>
          </a:p>
        </p:txBody>
      </p:sp>
      <p:sp>
        <p:nvSpPr>
          <p:cNvPr id="158" name="标题 1"/>
          <p:cNvSpPr/>
          <p:nvPr/>
        </p:nvSpPr>
        <p:spPr>
          <a:xfrm>
            <a:off x="648704" y="1727437"/>
            <a:ext cx="11132361" cy="112846"/>
          </a:xfrm>
          <a:prstGeom prst="roundRect">
            <a:avLst>
              <a:gd name="adj" fmla="val 0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10000"/>
              </a:lnSpc>
              <a:defRPr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endParaRPr/>
          </a:p>
        </p:txBody>
      </p:sp>
      <p:sp>
        <p:nvSpPr>
          <p:cNvPr id="159" name="标题 1"/>
          <p:cNvSpPr txBox="1"/>
          <p:nvPr/>
        </p:nvSpPr>
        <p:spPr>
          <a:xfrm>
            <a:off x="648703" y="2254856"/>
            <a:ext cx="5711094" cy="2598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r>
              <a:t>1. 채널S 편성표 확인하기 </a:t>
            </a:r>
          </a:p>
        </p:txBody>
      </p:sp>
      <p:sp>
        <p:nvSpPr>
          <p:cNvPr id="160" name="标题 1"/>
          <p:cNvSpPr txBox="1"/>
          <p:nvPr/>
        </p:nvSpPr>
        <p:spPr>
          <a:xfrm>
            <a:off x="3240453" y="4819461"/>
            <a:ext cx="5711093" cy="2598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>
                <a:solidFill>
                  <a:schemeClr val="accent3">
                    <a:lumOff val="44000"/>
                  </a:schemeClr>
                </a:solidFill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lvl1pPr>
          </a:lstStyle>
          <a:p>
            <a:r>
              <a:t>적합한 상품을 찾을 때까지 위 과정을 무한히 반복하기</a:t>
            </a:r>
          </a:p>
        </p:txBody>
      </p:sp>
      <p:sp>
        <p:nvSpPr>
          <p:cNvPr id="161" name="标题 1"/>
          <p:cNvSpPr txBox="1"/>
          <p:nvPr/>
        </p:nvSpPr>
        <p:spPr>
          <a:xfrm>
            <a:off x="6297457" y="2246278"/>
            <a:ext cx="571109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r>
              <a:rPr dirty="0"/>
              <a:t>2. </a:t>
            </a:r>
            <a:r>
              <a:rPr lang="ko-KR" altLang="en-US" dirty="0"/>
              <a:t>방영</a:t>
            </a:r>
            <a:r>
              <a:rPr dirty="0"/>
              <a:t> </a:t>
            </a:r>
            <a:r>
              <a:rPr dirty="0" err="1"/>
              <a:t>회차에</a:t>
            </a:r>
            <a:r>
              <a:rPr dirty="0"/>
              <a:t> </a:t>
            </a:r>
            <a:r>
              <a:rPr dirty="0" err="1"/>
              <a:t>나오는</a:t>
            </a:r>
            <a:r>
              <a:rPr dirty="0"/>
              <a:t> </a:t>
            </a:r>
            <a:r>
              <a:rPr dirty="0" err="1"/>
              <a:t>상품</a:t>
            </a:r>
            <a:r>
              <a:rPr dirty="0"/>
              <a:t> </a:t>
            </a:r>
            <a:r>
              <a:rPr dirty="0" err="1"/>
              <a:t>검색하기</a:t>
            </a:r>
            <a:r>
              <a:rPr lang="en-US" dirty="0"/>
              <a:t> </a:t>
            </a:r>
            <a:r>
              <a:rPr lang="en-US" sz="1600" dirty="0"/>
              <a:t>(</a:t>
            </a:r>
            <a:r>
              <a:rPr lang="ko-KR" altLang="en-US" sz="1600" dirty="0"/>
              <a:t>뉴스</a:t>
            </a:r>
            <a:r>
              <a:rPr lang="en-US" altLang="ko-KR" sz="1600" dirty="0"/>
              <a:t>, </a:t>
            </a:r>
            <a:r>
              <a:rPr lang="ko-KR" altLang="en-US" sz="1600" dirty="0"/>
              <a:t>블로그</a:t>
            </a:r>
            <a:r>
              <a:rPr lang="en-US" altLang="ko-KR" sz="1600" dirty="0"/>
              <a:t>, </a:t>
            </a:r>
            <a:r>
              <a:rPr lang="ko-KR" altLang="en-US" sz="1600" dirty="0"/>
              <a:t>유튜브</a:t>
            </a:r>
            <a:r>
              <a:rPr lang="en-US" altLang="ko-KR" sz="1600" dirty="0"/>
              <a:t>)</a:t>
            </a:r>
            <a:r>
              <a:rPr sz="1600" dirty="0"/>
              <a:t> </a:t>
            </a:r>
            <a:endParaRPr dirty="0"/>
          </a:p>
        </p:txBody>
      </p:sp>
      <p:pic>
        <p:nvPicPr>
          <p:cNvPr id="162" name="그림 5" descr="그림 5"/>
          <p:cNvPicPr>
            <a:picLocks noChangeAspect="1"/>
          </p:cNvPicPr>
          <p:nvPr/>
        </p:nvPicPr>
        <p:blipFill>
          <a:blip r:embed="rId3"/>
          <a:srcRect t="1" b="17245"/>
          <a:stretch>
            <a:fillRect/>
          </a:stretch>
        </p:blipFill>
        <p:spPr>
          <a:xfrm>
            <a:off x="6297457" y="2571997"/>
            <a:ext cx="5483607" cy="374217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그림 2" descr="그림 2"/>
          <p:cNvPicPr>
            <a:picLocks noChangeAspect="1"/>
          </p:cNvPicPr>
          <p:nvPr/>
        </p:nvPicPr>
        <p:blipFill>
          <a:blip r:embed="rId2"/>
          <a:srcRect b="46533"/>
          <a:stretch>
            <a:fillRect/>
          </a:stretch>
        </p:blipFill>
        <p:spPr>
          <a:xfrm>
            <a:off x="648704" y="2571998"/>
            <a:ext cx="5245840" cy="1956482"/>
          </a:xfrm>
          <a:prstGeom prst="rect">
            <a:avLst/>
          </a:prstGeom>
          <a:ln w="12700">
            <a:miter lim="400000"/>
          </a:ln>
        </p:spPr>
      </p:pic>
      <p:sp>
        <p:nvSpPr>
          <p:cNvPr id="165" name="文本框 28"/>
          <p:cNvSpPr txBox="1"/>
          <p:nvPr/>
        </p:nvSpPr>
        <p:spPr>
          <a:xfrm>
            <a:off x="694424" y="799859"/>
            <a:ext cx="8876443" cy="707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4000">
                <a:latin typeface="나눔스퀘어OTF Bold"/>
                <a:ea typeface="나눔스퀘어OTF Bold"/>
                <a:cs typeface="나눔스퀘어OTF Bold"/>
                <a:sym typeface="나눔스퀘어OTF Bold"/>
              </a:defRPr>
            </a:lvl1pPr>
          </a:lstStyle>
          <a:p>
            <a:r>
              <a:rPr lang="ko-KR" altLang="en-US" dirty="0"/>
              <a:t>매뉴얼 키워드 등록 방식 </a:t>
            </a:r>
            <a:r>
              <a:rPr lang="en-US" altLang="ko-KR" dirty="0"/>
              <a:t>(As-is)</a:t>
            </a:r>
            <a:endParaRPr lang="ko-KR" altLang="en-US" dirty="0"/>
          </a:p>
        </p:txBody>
      </p:sp>
      <p:sp>
        <p:nvSpPr>
          <p:cNvPr id="166" name="标题 1"/>
          <p:cNvSpPr/>
          <p:nvPr/>
        </p:nvSpPr>
        <p:spPr>
          <a:xfrm>
            <a:off x="648704" y="1727437"/>
            <a:ext cx="11132361" cy="112846"/>
          </a:xfrm>
          <a:prstGeom prst="roundRect">
            <a:avLst>
              <a:gd name="adj" fmla="val 0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10000"/>
              </a:lnSpc>
              <a:defRPr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endParaRPr/>
          </a:p>
        </p:txBody>
      </p:sp>
      <p:sp>
        <p:nvSpPr>
          <p:cNvPr id="167" name="标题 1"/>
          <p:cNvSpPr txBox="1"/>
          <p:nvPr/>
        </p:nvSpPr>
        <p:spPr>
          <a:xfrm>
            <a:off x="648703" y="2254856"/>
            <a:ext cx="5711094" cy="2598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r>
              <a:t>1. 채널S 편성표 확인하기 </a:t>
            </a:r>
          </a:p>
        </p:txBody>
      </p:sp>
      <p:sp>
        <p:nvSpPr>
          <p:cNvPr id="168" name="标题 1"/>
          <p:cNvSpPr/>
          <p:nvPr/>
        </p:nvSpPr>
        <p:spPr>
          <a:xfrm>
            <a:off x="0" y="4496189"/>
            <a:ext cx="12192000" cy="874098"/>
          </a:xfrm>
          <a:prstGeom prst="roundRect">
            <a:avLst>
              <a:gd name="adj" fmla="val 0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10000"/>
              </a:lnSpc>
              <a:defRPr>
                <a:solidFill>
                  <a:schemeClr val="accent3">
                    <a:lumOff val="44000"/>
                  </a:schemeClr>
                </a:solidFill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endParaRPr/>
          </a:p>
        </p:txBody>
      </p:sp>
      <p:sp>
        <p:nvSpPr>
          <p:cNvPr id="169" name="标题 1"/>
          <p:cNvSpPr txBox="1"/>
          <p:nvPr/>
        </p:nvSpPr>
        <p:spPr>
          <a:xfrm>
            <a:off x="648703" y="5575882"/>
            <a:ext cx="11132362" cy="6564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50000"/>
              </a:lnSpc>
              <a:defRPr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r>
              <a:t>여기서 끝이 아니다!</a:t>
            </a:r>
          </a:p>
          <a:p>
            <a:pPr algn="r">
              <a:lnSpc>
                <a:spcPct val="150000"/>
              </a:lnSpc>
              <a:defRPr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r>
              <a:t>화제가 될만한 키워드를 찾은 다음에는….</a:t>
            </a:r>
          </a:p>
        </p:txBody>
      </p:sp>
      <p:sp>
        <p:nvSpPr>
          <p:cNvPr id="170" name="标题 1"/>
          <p:cNvSpPr txBox="1"/>
          <p:nvPr/>
        </p:nvSpPr>
        <p:spPr>
          <a:xfrm>
            <a:off x="2490382" y="4790996"/>
            <a:ext cx="7211236" cy="284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2000">
                <a:solidFill>
                  <a:schemeClr val="accent3">
                    <a:lumOff val="44000"/>
                  </a:schemeClr>
                </a:solidFill>
                <a:latin typeface="나눔스퀘어OTF Bold"/>
                <a:ea typeface="나눔스퀘어OTF Bold"/>
                <a:cs typeface="나눔스퀘어OTF Bold"/>
                <a:sym typeface="나눔스퀘어OTF Bold"/>
              </a:defRPr>
            </a:pPr>
            <a:r>
              <a:t>Pain Point ① </a:t>
            </a:r>
            <a:r>
              <a:rPr>
                <a:latin typeface="나눔스퀘어OTF Regular"/>
                <a:ea typeface="나눔스퀘어OTF Regular"/>
                <a:cs typeface="나눔스퀘어OTF Regular"/>
                <a:sym typeface="나눔스퀘어OTF Regular"/>
              </a:rPr>
              <a:t>적합한 상품을 찾을 때까지 위 과정을 반복</a:t>
            </a:r>
          </a:p>
        </p:txBody>
      </p:sp>
      <p:pic>
        <p:nvPicPr>
          <p:cNvPr id="172" name="그림 5" descr="그림 5"/>
          <p:cNvPicPr>
            <a:picLocks noChangeAspect="1"/>
          </p:cNvPicPr>
          <p:nvPr/>
        </p:nvPicPr>
        <p:blipFill>
          <a:blip r:embed="rId3"/>
          <a:srcRect b="57449"/>
          <a:stretch>
            <a:fillRect/>
          </a:stretch>
        </p:blipFill>
        <p:spPr>
          <a:xfrm>
            <a:off x="6297457" y="2571998"/>
            <a:ext cx="5483607" cy="1924192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标题 1">
            <a:extLst>
              <a:ext uri="{FF2B5EF4-FFF2-40B4-BE49-F238E27FC236}">
                <a16:creationId xmlns:a16="http://schemas.microsoft.com/office/drawing/2014/main" id="{E3D4E2C9-75B4-0FE2-E823-CA556CDDC9F0}"/>
              </a:ext>
            </a:extLst>
          </p:cNvPr>
          <p:cNvSpPr txBox="1"/>
          <p:nvPr/>
        </p:nvSpPr>
        <p:spPr>
          <a:xfrm>
            <a:off x="6297457" y="2246278"/>
            <a:ext cx="571109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r>
              <a:rPr dirty="0"/>
              <a:t>2. </a:t>
            </a:r>
            <a:r>
              <a:rPr lang="ko-KR" altLang="en-US" dirty="0"/>
              <a:t>방영</a:t>
            </a:r>
            <a:r>
              <a:rPr dirty="0"/>
              <a:t> </a:t>
            </a:r>
            <a:r>
              <a:rPr dirty="0" err="1"/>
              <a:t>회차에</a:t>
            </a:r>
            <a:r>
              <a:rPr dirty="0"/>
              <a:t> </a:t>
            </a:r>
            <a:r>
              <a:rPr dirty="0" err="1"/>
              <a:t>나오는</a:t>
            </a:r>
            <a:r>
              <a:rPr dirty="0"/>
              <a:t> </a:t>
            </a:r>
            <a:r>
              <a:rPr dirty="0" err="1"/>
              <a:t>상품</a:t>
            </a:r>
            <a:r>
              <a:rPr dirty="0"/>
              <a:t> </a:t>
            </a:r>
            <a:r>
              <a:rPr dirty="0" err="1"/>
              <a:t>검색하기</a:t>
            </a:r>
            <a:r>
              <a:rPr lang="en-US" dirty="0"/>
              <a:t> </a:t>
            </a:r>
            <a:r>
              <a:rPr lang="en-US" sz="1600" dirty="0"/>
              <a:t>(</a:t>
            </a:r>
            <a:r>
              <a:rPr lang="ko-KR" altLang="en-US" sz="1600" dirty="0"/>
              <a:t>뉴스</a:t>
            </a:r>
            <a:r>
              <a:rPr lang="en-US" altLang="ko-KR" sz="1600" dirty="0"/>
              <a:t>, </a:t>
            </a:r>
            <a:r>
              <a:rPr lang="ko-KR" altLang="en-US" sz="1600" dirty="0"/>
              <a:t>블로그</a:t>
            </a:r>
            <a:r>
              <a:rPr lang="en-US" altLang="ko-KR" sz="1600" dirty="0"/>
              <a:t>, </a:t>
            </a:r>
            <a:r>
              <a:rPr lang="ko-KR" altLang="en-US" sz="1600" dirty="0"/>
              <a:t>유튜브</a:t>
            </a:r>
            <a:r>
              <a:rPr lang="en-US" altLang="ko-KR" sz="1600" dirty="0"/>
              <a:t>)</a:t>
            </a:r>
            <a:r>
              <a:rPr sz="1600" dirty="0"/>
              <a:t> </a:t>
            </a:r>
            <a:endParaRPr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그림 18" descr="그림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8264" y="2620123"/>
            <a:ext cx="5482800" cy="3917009"/>
          </a:xfrm>
          <a:prstGeom prst="rect">
            <a:avLst/>
          </a:prstGeom>
          <a:ln w="12700">
            <a:miter lim="400000"/>
          </a:ln>
        </p:spPr>
      </p:pic>
      <p:pic>
        <p:nvPicPr>
          <p:cNvPr id="175" name="그림 2" descr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704" y="2572034"/>
            <a:ext cx="2664361" cy="3659186"/>
          </a:xfrm>
          <a:prstGeom prst="rect">
            <a:avLst/>
          </a:prstGeom>
          <a:ln w="12700">
            <a:miter lim="400000"/>
          </a:ln>
        </p:spPr>
      </p:pic>
      <p:pic>
        <p:nvPicPr>
          <p:cNvPr id="176" name="그림 4" descr="그림 4"/>
          <p:cNvPicPr>
            <a:picLocks noChangeAspect="1"/>
          </p:cNvPicPr>
          <p:nvPr/>
        </p:nvPicPr>
        <p:blipFill>
          <a:blip r:embed="rId4"/>
          <a:srcRect b="29609"/>
          <a:stretch>
            <a:fillRect/>
          </a:stretch>
        </p:blipFill>
        <p:spPr>
          <a:xfrm>
            <a:off x="746828" y="2698365"/>
            <a:ext cx="2484001" cy="3790643"/>
          </a:xfrm>
          <a:prstGeom prst="rect">
            <a:avLst/>
          </a:prstGeom>
          <a:ln w="12700">
            <a:miter lim="400000"/>
          </a:ln>
        </p:spPr>
      </p:pic>
      <p:pic>
        <p:nvPicPr>
          <p:cNvPr id="177" name="그림 10" descr="그림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3064" y="2572033"/>
            <a:ext cx="2581481" cy="3659186"/>
          </a:xfrm>
          <a:prstGeom prst="rect">
            <a:avLst/>
          </a:prstGeom>
          <a:ln w="12700">
            <a:miter lim="400000"/>
          </a:ln>
        </p:spPr>
      </p:pic>
      <p:sp>
        <p:nvSpPr>
          <p:cNvPr id="178" name="标题 1"/>
          <p:cNvSpPr txBox="1"/>
          <p:nvPr/>
        </p:nvSpPr>
        <p:spPr>
          <a:xfrm>
            <a:off x="648703" y="2254856"/>
            <a:ext cx="5711094" cy="2598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r>
              <a:t>3. 네이버+ 스토어 검색 결과 확인하기</a:t>
            </a:r>
          </a:p>
        </p:txBody>
      </p:sp>
      <p:sp>
        <p:nvSpPr>
          <p:cNvPr id="179" name="文本框 28"/>
          <p:cNvSpPr txBox="1"/>
          <p:nvPr/>
        </p:nvSpPr>
        <p:spPr>
          <a:xfrm>
            <a:off x="694424" y="799859"/>
            <a:ext cx="8876443" cy="707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4000">
                <a:latin typeface="나눔스퀘어OTF Bold"/>
                <a:ea typeface="나눔스퀘어OTF Bold"/>
                <a:cs typeface="나눔스퀘어OTF Bold"/>
                <a:sym typeface="나눔스퀘어OTF Bold"/>
              </a:defRPr>
            </a:lvl1pPr>
          </a:lstStyle>
          <a:p>
            <a:r>
              <a:rPr lang="ko-KR" altLang="en-US" dirty="0"/>
              <a:t>매뉴얼 키워드 등록 방식 </a:t>
            </a:r>
            <a:r>
              <a:rPr lang="en-US" altLang="ko-KR" dirty="0"/>
              <a:t>(As-is)</a:t>
            </a:r>
            <a:endParaRPr lang="ko-KR" altLang="en-US" dirty="0"/>
          </a:p>
        </p:txBody>
      </p:sp>
      <p:sp>
        <p:nvSpPr>
          <p:cNvPr id="180" name="标题 1"/>
          <p:cNvSpPr/>
          <p:nvPr/>
        </p:nvSpPr>
        <p:spPr>
          <a:xfrm>
            <a:off x="648704" y="1727437"/>
            <a:ext cx="11132361" cy="112846"/>
          </a:xfrm>
          <a:prstGeom prst="roundRect">
            <a:avLst>
              <a:gd name="adj" fmla="val 0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10000"/>
              </a:lnSpc>
              <a:defRPr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endParaRPr/>
          </a:p>
        </p:txBody>
      </p:sp>
      <p:sp>
        <p:nvSpPr>
          <p:cNvPr id="181" name="标题 1"/>
          <p:cNvSpPr txBox="1"/>
          <p:nvPr/>
        </p:nvSpPr>
        <p:spPr>
          <a:xfrm>
            <a:off x="6297457" y="2254856"/>
            <a:ext cx="5711093" cy="2598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r>
              <a:t>4. Postman으로 API 호출하기 </a:t>
            </a:r>
          </a:p>
        </p:txBody>
      </p:sp>
      <p:pic>
        <p:nvPicPr>
          <p:cNvPr id="182" name="그림 7" descr="그림 7"/>
          <p:cNvPicPr>
            <a:picLocks noChangeAspect="1"/>
          </p:cNvPicPr>
          <p:nvPr/>
        </p:nvPicPr>
        <p:blipFill>
          <a:blip r:embed="rId5"/>
          <a:srcRect b="29609"/>
          <a:stretch>
            <a:fillRect/>
          </a:stretch>
        </p:blipFill>
        <p:spPr>
          <a:xfrm>
            <a:off x="3361804" y="2698367"/>
            <a:ext cx="2484001" cy="379064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그림 18" descr="그림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8264" y="2620123"/>
            <a:ext cx="5482800" cy="3917009"/>
          </a:xfrm>
          <a:prstGeom prst="rect">
            <a:avLst/>
          </a:prstGeom>
          <a:ln w="12700">
            <a:miter lim="400000"/>
          </a:ln>
        </p:spPr>
      </p:pic>
      <p:pic>
        <p:nvPicPr>
          <p:cNvPr id="185" name="그림 2" descr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704" y="2572034"/>
            <a:ext cx="2664361" cy="3659186"/>
          </a:xfrm>
          <a:prstGeom prst="rect">
            <a:avLst/>
          </a:prstGeom>
          <a:ln w="12700">
            <a:miter lim="400000"/>
          </a:ln>
        </p:spPr>
      </p:pic>
      <p:pic>
        <p:nvPicPr>
          <p:cNvPr id="186" name="그림 4" descr="그림 4"/>
          <p:cNvPicPr>
            <a:picLocks noChangeAspect="1"/>
          </p:cNvPicPr>
          <p:nvPr/>
        </p:nvPicPr>
        <p:blipFill>
          <a:blip r:embed="rId4"/>
          <a:srcRect b="29609"/>
          <a:stretch>
            <a:fillRect/>
          </a:stretch>
        </p:blipFill>
        <p:spPr>
          <a:xfrm>
            <a:off x="746828" y="2698365"/>
            <a:ext cx="2484001" cy="3790643"/>
          </a:xfrm>
          <a:prstGeom prst="rect">
            <a:avLst/>
          </a:prstGeom>
          <a:ln w="12700">
            <a:miter lim="400000"/>
          </a:ln>
        </p:spPr>
      </p:pic>
      <p:pic>
        <p:nvPicPr>
          <p:cNvPr id="187" name="그림 10" descr="그림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3064" y="2572033"/>
            <a:ext cx="2581481" cy="3659186"/>
          </a:xfrm>
          <a:prstGeom prst="rect">
            <a:avLst/>
          </a:prstGeom>
          <a:ln w="12700">
            <a:miter lim="400000"/>
          </a:ln>
        </p:spPr>
      </p:pic>
      <p:sp>
        <p:nvSpPr>
          <p:cNvPr id="188" name="标题 1"/>
          <p:cNvSpPr txBox="1"/>
          <p:nvPr/>
        </p:nvSpPr>
        <p:spPr>
          <a:xfrm>
            <a:off x="648703" y="2254856"/>
            <a:ext cx="5711094" cy="2598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r>
              <a:t>3. 네이버+ 스토어 검색 결과 확인하기</a:t>
            </a:r>
          </a:p>
        </p:txBody>
      </p:sp>
      <p:sp>
        <p:nvSpPr>
          <p:cNvPr id="189" name="文本框 28"/>
          <p:cNvSpPr txBox="1"/>
          <p:nvPr/>
        </p:nvSpPr>
        <p:spPr>
          <a:xfrm>
            <a:off x="694424" y="799859"/>
            <a:ext cx="8876443" cy="707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4000">
                <a:latin typeface="나눔스퀘어OTF Bold"/>
                <a:ea typeface="나눔스퀘어OTF Bold"/>
                <a:cs typeface="나눔스퀘어OTF Bold"/>
                <a:sym typeface="나눔스퀘어OTF Bold"/>
              </a:defRPr>
            </a:lvl1pPr>
          </a:lstStyle>
          <a:p>
            <a:r>
              <a:rPr lang="ko-KR" altLang="en-US" dirty="0"/>
              <a:t>매뉴얼 키워드 등록 방식 </a:t>
            </a:r>
            <a:r>
              <a:rPr lang="en-US" altLang="ko-KR" dirty="0"/>
              <a:t>(As-is)</a:t>
            </a:r>
            <a:endParaRPr lang="ko-KR" altLang="en-US" dirty="0"/>
          </a:p>
        </p:txBody>
      </p:sp>
      <p:sp>
        <p:nvSpPr>
          <p:cNvPr id="190" name="标题 1"/>
          <p:cNvSpPr/>
          <p:nvPr/>
        </p:nvSpPr>
        <p:spPr>
          <a:xfrm>
            <a:off x="648704" y="1727437"/>
            <a:ext cx="11132361" cy="112846"/>
          </a:xfrm>
          <a:prstGeom prst="roundRect">
            <a:avLst>
              <a:gd name="adj" fmla="val 0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10000"/>
              </a:lnSpc>
              <a:defRPr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endParaRPr/>
          </a:p>
        </p:txBody>
      </p:sp>
      <p:sp>
        <p:nvSpPr>
          <p:cNvPr id="191" name="标题 1"/>
          <p:cNvSpPr txBox="1"/>
          <p:nvPr/>
        </p:nvSpPr>
        <p:spPr>
          <a:xfrm>
            <a:off x="6297457" y="2254856"/>
            <a:ext cx="5711093" cy="2598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r>
              <a:t>4. Postman으로 API 호출하기 </a:t>
            </a:r>
          </a:p>
        </p:txBody>
      </p:sp>
      <p:pic>
        <p:nvPicPr>
          <p:cNvPr id="192" name="그림 7" descr="그림 7"/>
          <p:cNvPicPr>
            <a:picLocks noChangeAspect="1"/>
          </p:cNvPicPr>
          <p:nvPr/>
        </p:nvPicPr>
        <p:blipFill>
          <a:blip r:embed="rId5"/>
          <a:srcRect b="29609"/>
          <a:stretch>
            <a:fillRect/>
          </a:stretch>
        </p:blipFill>
        <p:spPr>
          <a:xfrm>
            <a:off x="3361804" y="2698367"/>
            <a:ext cx="2484001" cy="3790640"/>
          </a:xfrm>
          <a:prstGeom prst="rect">
            <a:avLst/>
          </a:prstGeom>
          <a:ln w="12700">
            <a:miter lim="400000"/>
          </a:ln>
        </p:spPr>
      </p:pic>
      <p:sp>
        <p:nvSpPr>
          <p:cNvPr id="193" name="标题 1"/>
          <p:cNvSpPr/>
          <p:nvPr/>
        </p:nvSpPr>
        <p:spPr>
          <a:xfrm>
            <a:off x="0" y="4496189"/>
            <a:ext cx="12192000" cy="874098"/>
          </a:xfrm>
          <a:prstGeom prst="roundRect">
            <a:avLst>
              <a:gd name="adj" fmla="val 0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10000"/>
              </a:lnSpc>
              <a:defRPr>
                <a:solidFill>
                  <a:schemeClr val="accent3">
                    <a:lumOff val="44000"/>
                  </a:schemeClr>
                </a:solidFill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endParaRPr/>
          </a:p>
        </p:txBody>
      </p:sp>
      <p:sp>
        <p:nvSpPr>
          <p:cNvPr id="194" name="标题 1"/>
          <p:cNvSpPr txBox="1"/>
          <p:nvPr/>
        </p:nvSpPr>
        <p:spPr>
          <a:xfrm>
            <a:off x="1898523" y="4782257"/>
            <a:ext cx="8632723" cy="3077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2000">
                <a:solidFill>
                  <a:schemeClr val="accent3">
                    <a:lumOff val="44000"/>
                  </a:schemeClr>
                </a:solidFill>
                <a:latin typeface="나눔스퀘어OTF Bold"/>
                <a:ea typeface="나눔스퀘어OTF Bold"/>
                <a:cs typeface="나눔스퀘어OTF Bold"/>
                <a:sym typeface="나눔스퀘어OTF Bold"/>
              </a:defRPr>
            </a:pPr>
            <a:r>
              <a:rPr dirty="0"/>
              <a:t>Pain Point ② </a:t>
            </a:r>
            <a:r>
              <a:rPr dirty="0" err="1">
                <a:latin typeface="나눔스퀘어OTF Regular"/>
                <a:ea typeface="나눔스퀘어OTF Regular"/>
                <a:cs typeface="나눔스퀘어OTF Regular"/>
                <a:sym typeface="나눔스퀘어OTF Regular"/>
              </a:rPr>
              <a:t>매번</a:t>
            </a:r>
            <a:r>
              <a:rPr dirty="0">
                <a:latin typeface="나눔스퀘어OTF Regular"/>
                <a:ea typeface="나눔스퀘어OTF Regular"/>
                <a:cs typeface="나눔스퀘어OTF Regular"/>
                <a:sym typeface="나눔스퀘어OTF Regular"/>
              </a:rPr>
              <a:t> </a:t>
            </a:r>
            <a:r>
              <a:rPr dirty="0" err="1">
                <a:latin typeface="나눔스퀘어OTF Regular"/>
                <a:ea typeface="나눔스퀘어OTF Regular"/>
                <a:cs typeface="나눔스퀘어OTF Regular"/>
                <a:sym typeface="나눔스퀘어OTF Regular"/>
              </a:rPr>
              <a:t>난수</a:t>
            </a:r>
            <a:r>
              <a:rPr dirty="0">
                <a:latin typeface="나눔스퀘어OTF Regular"/>
                <a:ea typeface="나눔스퀘어OTF Regular"/>
                <a:cs typeface="나눔스퀘어OTF Regular"/>
                <a:sym typeface="나눔스퀘어OTF Regular"/>
              </a:rPr>
              <a:t> </a:t>
            </a:r>
            <a:r>
              <a:rPr dirty="0" err="1">
                <a:latin typeface="나눔스퀘어OTF Regular"/>
                <a:ea typeface="나눔스퀘어OTF Regular"/>
                <a:cs typeface="나눔스퀘어OTF Regular"/>
                <a:sym typeface="나눔스퀘어OTF Regular"/>
              </a:rPr>
              <a:t>번호를</a:t>
            </a:r>
            <a:r>
              <a:rPr dirty="0">
                <a:latin typeface="나눔스퀘어OTF Regular"/>
                <a:ea typeface="나눔스퀘어OTF Regular"/>
                <a:cs typeface="나눔스퀘어OTF Regular"/>
                <a:sym typeface="나눔스퀘어OTF Regular"/>
              </a:rPr>
              <a:t> </a:t>
            </a:r>
            <a:r>
              <a:rPr dirty="0" err="1">
                <a:latin typeface="나눔스퀘어OTF Regular"/>
                <a:ea typeface="나눔스퀘어OTF Regular"/>
                <a:cs typeface="나눔스퀘어OTF Regular"/>
                <a:sym typeface="나눔스퀘어OTF Regular"/>
              </a:rPr>
              <a:t>생성하고</a:t>
            </a:r>
            <a:r>
              <a:rPr dirty="0">
                <a:latin typeface="나눔스퀘어OTF Regular"/>
                <a:ea typeface="나눔스퀘어OTF Regular"/>
                <a:cs typeface="나눔스퀘어OTF Regular"/>
                <a:sym typeface="나눔스퀘어OTF Regular"/>
              </a:rPr>
              <a:t>, </a:t>
            </a:r>
            <a:r>
              <a:rPr dirty="0" err="1">
                <a:latin typeface="나눔스퀘어OTF Regular"/>
                <a:ea typeface="나눔스퀘어OTF Regular"/>
                <a:cs typeface="나눔스퀘어OTF Regular"/>
                <a:sym typeface="나눔스퀘어OTF Regular"/>
              </a:rPr>
              <a:t>콘텐츠명</a:t>
            </a:r>
            <a:r>
              <a:rPr dirty="0">
                <a:latin typeface="나눔스퀘어OTF Regular"/>
                <a:ea typeface="나눔스퀘어OTF Regular"/>
                <a:cs typeface="나눔스퀘어OTF Regular"/>
                <a:sym typeface="나눔스퀘어OTF Regular"/>
              </a:rPr>
              <a:t>, CS </a:t>
            </a:r>
            <a:r>
              <a:rPr lang="en-US" dirty="0">
                <a:latin typeface="나눔스퀘어OTF Regular"/>
                <a:ea typeface="나눔스퀘어OTF Regular"/>
                <a:cs typeface="나눔스퀘어OTF Regular"/>
                <a:sym typeface="나눔스퀘어OTF Regular"/>
              </a:rPr>
              <a:t>ID</a:t>
            </a:r>
            <a:r>
              <a:rPr dirty="0">
                <a:latin typeface="나눔스퀘어OTF Regular"/>
                <a:ea typeface="나눔스퀘어OTF Regular"/>
                <a:cs typeface="나눔스퀘어OTF Regular"/>
                <a:sym typeface="나눔스퀘어OTF Regular"/>
              </a:rPr>
              <a:t>, </a:t>
            </a:r>
            <a:r>
              <a:rPr dirty="0" err="1">
                <a:latin typeface="나눔스퀘어OTF Regular"/>
                <a:ea typeface="나눔스퀘어OTF Regular"/>
                <a:cs typeface="나눔스퀘어OTF Regular"/>
                <a:sym typeface="나눔스퀘어OTF Regular"/>
              </a:rPr>
              <a:t>상품명</a:t>
            </a:r>
            <a:r>
              <a:rPr dirty="0">
                <a:latin typeface="나눔스퀘어OTF Regular"/>
                <a:ea typeface="나눔스퀘어OTF Regular"/>
                <a:cs typeface="나눔스퀘어OTF Regular"/>
                <a:sym typeface="나눔스퀘어OTF Regular"/>
              </a:rPr>
              <a:t> </a:t>
            </a:r>
            <a:r>
              <a:rPr dirty="0" err="1">
                <a:latin typeface="나눔스퀘어OTF Regular"/>
                <a:ea typeface="나눔스퀘어OTF Regular"/>
                <a:cs typeface="나눔스퀘어OTF Regular"/>
                <a:sym typeface="나눔스퀘어OTF Regular"/>
              </a:rPr>
              <a:t>교체</a:t>
            </a:r>
            <a:endParaRPr dirty="0">
              <a:latin typeface="나눔스퀘어OTF Regular"/>
              <a:ea typeface="나눔스퀘어OTF Regular"/>
              <a:cs typeface="나눔스퀘어OTF Regular"/>
              <a:sym typeface="나눔스퀘어OTF Regular"/>
            </a:endParaRP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任意多边形: 形状 17"/>
          <p:cNvSpPr/>
          <p:nvPr/>
        </p:nvSpPr>
        <p:spPr>
          <a:xfrm>
            <a:off x="7460342" y="0"/>
            <a:ext cx="4731658" cy="6858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779" h="21600" extrusionOk="0">
                <a:moveTo>
                  <a:pt x="13659" y="0"/>
                </a:moveTo>
                <a:lnTo>
                  <a:pt x="20779" y="0"/>
                </a:lnTo>
                <a:lnTo>
                  <a:pt x="20779" y="21600"/>
                </a:lnTo>
                <a:lnTo>
                  <a:pt x="8894" y="21600"/>
                </a:lnTo>
                <a:lnTo>
                  <a:pt x="10576" y="21344"/>
                </a:lnTo>
                <a:cubicBezTo>
                  <a:pt x="12342" y="21055"/>
                  <a:pt x="14076" y="20685"/>
                  <a:pt x="14654" y="20174"/>
                </a:cubicBezTo>
                <a:cubicBezTo>
                  <a:pt x="16197" y="18813"/>
                  <a:pt x="17893" y="15253"/>
                  <a:pt x="15939" y="14228"/>
                </a:cubicBezTo>
                <a:cubicBezTo>
                  <a:pt x="13986" y="13203"/>
                  <a:pt x="4980" y="14525"/>
                  <a:pt x="2932" y="14026"/>
                </a:cubicBezTo>
                <a:cubicBezTo>
                  <a:pt x="884" y="13527"/>
                  <a:pt x="1621" y="11814"/>
                  <a:pt x="3652" y="11234"/>
                </a:cubicBezTo>
                <a:cubicBezTo>
                  <a:pt x="5683" y="10655"/>
                  <a:pt x="13463" y="11545"/>
                  <a:pt x="15117" y="10547"/>
                </a:cubicBezTo>
                <a:cubicBezTo>
                  <a:pt x="16771" y="9549"/>
                  <a:pt x="15914" y="6144"/>
                  <a:pt x="13574" y="5247"/>
                </a:cubicBezTo>
                <a:cubicBezTo>
                  <a:pt x="11235" y="4351"/>
                  <a:pt x="2984" y="5585"/>
                  <a:pt x="1081" y="5167"/>
                </a:cubicBezTo>
                <a:cubicBezTo>
                  <a:pt x="-821" y="4749"/>
                  <a:pt x="-58" y="3178"/>
                  <a:pt x="2161" y="2739"/>
                </a:cubicBezTo>
                <a:cubicBezTo>
                  <a:pt x="4380" y="2301"/>
                  <a:pt x="12469" y="2982"/>
                  <a:pt x="14397" y="2537"/>
                </a:cubicBezTo>
                <a:cubicBezTo>
                  <a:pt x="16325" y="2092"/>
                  <a:pt x="14183" y="771"/>
                  <a:pt x="13729" y="69"/>
                </a:cubicBezTo>
                <a:close/>
              </a:path>
            </a:pathLst>
          </a:custGeom>
          <a:solidFill>
            <a:srgbClr val="000000">
              <a:alpha val="19000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chemeClr val="accent3">
                    <a:lumOff val="44000"/>
                  </a:schemeClr>
                </a:solidFill>
              </a:defRPr>
            </a:pPr>
            <a:endParaRPr/>
          </a:p>
        </p:txBody>
      </p:sp>
      <p:sp>
        <p:nvSpPr>
          <p:cNvPr id="528" name="椭圆 7"/>
          <p:cNvSpPr/>
          <p:nvPr/>
        </p:nvSpPr>
        <p:spPr>
          <a:xfrm>
            <a:off x="9027886" y="1866900"/>
            <a:ext cx="1219201" cy="1219200"/>
          </a:xfrm>
          <a:prstGeom prst="ellipse">
            <a:avLst/>
          </a:prstGeom>
          <a:solidFill>
            <a:srgbClr val="404040"/>
          </a:solidFill>
          <a:ln w="12700">
            <a:miter lim="400000"/>
          </a:ln>
          <a:effectLst>
            <a:outerShdw blurRad="63500" rotWithShape="0">
              <a:srgbClr val="000000">
                <a:alpha val="42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chemeClr val="accent3">
                    <a:lumOff val="44000"/>
                  </a:schemeClr>
                </a:solidFill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endParaRPr/>
          </a:p>
        </p:txBody>
      </p:sp>
      <p:sp>
        <p:nvSpPr>
          <p:cNvPr id="529" name="矩形: 圆角 8"/>
          <p:cNvSpPr/>
          <p:nvPr/>
        </p:nvSpPr>
        <p:spPr>
          <a:xfrm>
            <a:off x="9042399" y="5638798"/>
            <a:ext cx="1567544" cy="120064"/>
          </a:xfrm>
          <a:prstGeom prst="roundRect">
            <a:avLst>
              <a:gd name="adj" fmla="val 16667"/>
            </a:avLst>
          </a:prstGeom>
          <a:solidFill>
            <a:srgbClr val="BFBFB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chemeClr val="accent3">
                    <a:lumOff val="44000"/>
                  </a:schemeClr>
                </a:solidFill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endParaRPr/>
          </a:p>
        </p:txBody>
      </p:sp>
      <p:sp>
        <p:nvSpPr>
          <p:cNvPr id="530" name="任意多边形: 形状 26"/>
          <p:cNvSpPr/>
          <p:nvPr/>
        </p:nvSpPr>
        <p:spPr>
          <a:xfrm>
            <a:off x="1" y="6274370"/>
            <a:ext cx="958851" cy="5836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19194" y="0"/>
                </a:lnTo>
                <a:cubicBezTo>
                  <a:pt x="20523" y="0"/>
                  <a:pt x="21600" y="4825"/>
                  <a:pt x="21600" y="10778"/>
                </a:cubicBez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chemeClr val="accent3">
                    <a:lumOff val="44000"/>
                  </a:schemeClr>
                </a:solidFill>
              </a:defRPr>
            </a:pPr>
            <a:endParaRPr/>
          </a:p>
        </p:txBody>
      </p:sp>
      <p:sp>
        <p:nvSpPr>
          <p:cNvPr id="531" name="Rectangle 10"/>
          <p:cNvSpPr txBox="1"/>
          <p:nvPr/>
        </p:nvSpPr>
        <p:spPr>
          <a:xfrm>
            <a:off x="865047" y="1860779"/>
            <a:ext cx="6937466" cy="9321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90000"/>
              </a:lnSpc>
              <a:defRPr sz="6000"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r>
              <a:t>감사합니다.</a:t>
            </a:r>
          </a:p>
        </p:txBody>
      </p:sp>
      <p:sp>
        <p:nvSpPr>
          <p:cNvPr id="532" name="标题 1"/>
          <p:cNvSpPr/>
          <p:nvPr/>
        </p:nvSpPr>
        <p:spPr>
          <a:xfrm>
            <a:off x="958850" y="1492356"/>
            <a:ext cx="1547214" cy="66734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lnSpc>
                <a:spcPct val="110000"/>
              </a:lnSpc>
              <a:defRPr>
                <a:latin typeface="나눔스퀘어OTF Regular"/>
                <a:ea typeface="나눔스퀘어OTF Regular"/>
                <a:cs typeface="나눔스퀘어OTF Regular"/>
                <a:sym typeface="나눔스퀘어OTF Regular"/>
              </a:defRPr>
            </a:pPr>
            <a:endParaRPr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707070"/>
      </a:accent1>
      <a:accent2>
        <a:srgbClr val="F7C67F"/>
      </a:accent2>
      <a:accent3>
        <a:srgbClr val="8F8F8F"/>
      </a:accent3>
      <a:accent4>
        <a:srgbClr val="919191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Office 主题​​">
      <a:majorFont>
        <a:latin typeface="等线"/>
        <a:ea typeface="等线"/>
        <a:cs typeface="等线"/>
      </a:majorFont>
      <a:minorFont>
        <a:latin typeface="Helvetica"/>
        <a:ea typeface="Helvetica"/>
        <a:cs typeface="Helvetic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3">
            <a:lumOff val="44000"/>
          </a:schemeClr>
        </a:solidFill>
        <a:ln w="19050" cap="flat">
          <a:solidFill>
            <a:srgbClr val="000000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OPPOSans R"/>
            <a:ea typeface="OPPOSans R"/>
            <a:cs typeface="OPPOSans R"/>
            <a:sym typeface="OPPOSans 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rgbClr val="000000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OPPOSans R"/>
            <a:ea typeface="OPPOSans R"/>
            <a:cs typeface="OPPOSans R"/>
            <a:sym typeface="OPPOSans 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 主题​​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707070"/>
      </a:accent1>
      <a:accent2>
        <a:srgbClr val="F7C67F"/>
      </a:accent2>
      <a:accent3>
        <a:srgbClr val="8F8F8F"/>
      </a:accent3>
      <a:accent4>
        <a:srgbClr val="919191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Office 主题​​">
      <a:majorFont>
        <a:latin typeface="等线"/>
        <a:ea typeface="等线"/>
        <a:cs typeface="等线"/>
      </a:majorFont>
      <a:minorFont>
        <a:latin typeface="Helvetica"/>
        <a:ea typeface="Helvetica"/>
        <a:cs typeface="Helvetic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3">
            <a:lumOff val="44000"/>
          </a:schemeClr>
        </a:solidFill>
        <a:ln w="19050" cap="flat">
          <a:solidFill>
            <a:srgbClr val="000000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OPPOSans R"/>
            <a:ea typeface="OPPOSans R"/>
            <a:cs typeface="OPPOSans R"/>
            <a:sym typeface="OPPOSans 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rgbClr val="000000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OPPOSans R"/>
            <a:ea typeface="OPPOSans R"/>
            <a:cs typeface="OPPOSans R"/>
            <a:sym typeface="OPPOSans 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</TotalTime>
  <Words>263</Words>
  <Application>Microsoft Office PowerPoint</Application>
  <PresentationFormat>와이드스크린</PresentationFormat>
  <Paragraphs>39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7" baseType="lpstr">
      <vt:lpstr>等线</vt:lpstr>
      <vt:lpstr>OPPOSans H</vt:lpstr>
      <vt:lpstr>OPPOSans R</vt:lpstr>
      <vt:lpstr>나눔스퀘어OTF</vt:lpstr>
      <vt:lpstr>나눔스퀘어OTF Regular</vt:lpstr>
      <vt:lpstr>Arial</vt:lpstr>
      <vt:lpstr>Office 主题​​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권영은(YOUNG EUN KWON)/커머스사업팀/SKB</cp:lastModifiedBy>
  <cp:revision>13</cp:revision>
  <dcterms:modified xsi:type="dcterms:W3CDTF">2026-09-16T10:10:22Z</dcterms:modified>
</cp:coreProperties>
</file>