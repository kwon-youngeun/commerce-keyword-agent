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9" r:id="rId2"/>
    <p:sldId id="261" r:id="rId3"/>
    <p:sldId id="296" r:id="rId4"/>
    <p:sldId id="262" r:id="rId5"/>
    <p:sldId id="263" r:id="rId6"/>
    <p:sldId id="264" r:id="rId7"/>
    <p:sldId id="265" r:id="rId8"/>
    <p:sldId id="294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POSans R"/>
        <a:ea typeface="OPPOSans R"/>
        <a:cs typeface="OPPOSans R"/>
        <a:sym typeface="OPPOSans 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OPPOSans R"/>
          <a:ea typeface="OPPOSans R"/>
          <a:cs typeface="OPPOSans R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OPPOSans R"/>
          <a:ea typeface="OPPOSans R"/>
          <a:cs typeface="OPPOSans 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/>
      </a:defRPr>
    </a:lvl1pPr>
    <a:lvl2pPr indent="228600" latinLnBrk="0">
      <a:defRPr sz="1200">
        <a:latin typeface="+mj-lt"/>
        <a:ea typeface="+mj-ea"/>
        <a:cs typeface="+mj-cs"/>
        <a:sym typeface="等线"/>
      </a:defRPr>
    </a:lvl2pPr>
    <a:lvl3pPr indent="457200" latinLnBrk="0">
      <a:defRPr sz="1200">
        <a:latin typeface="+mj-lt"/>
        <a:ea typeface="+mj-ea"/>
        <a:cs typeface="+mj-cs"/>
        <a:sym typeface="等线"/>
      </a:defRPr>
    </a:lvl3pPr>
    <a:lvl4pPr indent="685800" latinLnBrk="0">
      <a:defRPr sz="1200">
        <a:latin typeface="+mj-lt"/>
        <a:ea typeface="+mj-ea"/>
        <a:cs typeface="+mj-cs"/>
        <a:sym typeface="等线"/>
      </a:defRPr>
    </a:lvl4pPr>
    <a:lvl5pPr indent="914400" latinLnBrk="0">
      <a:defRPr sz="1200">
        <a:latin typeface="+mj-lt"/>
        <a:ea typeface="+mj-ea"/>
        <a:cs typeface="+mj-cs"/>
        <a:sym typeface="等线"/>
      </a:defRPr>
    </a:lvl5pPr>
    <a:lvl6pPr indent="1143000" latinLnBrk="0">
      <a:defRPr sz="1200">
        <a:latin typeface="+mj-lt"/>
        <a:ea typeface="+mj-ea"/>
        <a:cs typeface="+mj-cs"/>
        <a:sym typeface="等线"/>
      </a:defRPr>
    </a:lvl6pPr>
    <a:lvl7pPr indent="1371600" latinLnBrk="0">
      <a:defRPr sz="1200">
        <a:latin typeface="+mj-lt"/>
        <a:ea typeface="+mj-ea"/>
        <a:cs typeface="+mj-cs"/>
        <a:sym typeface="等线"/>
      </a:defRPr>
    </a:lvl7pPr>
    <a:lvl8pPr indent="1600200" latinLnBrk="0">
      <a:defRPr sz="1200">
        <a:latin typeface="+mj-lt"/>
        <a:ea typeface="+mj-ea"/>
        <a:cs typeface="+mj-cs"/>
        <a:sym typeface="等线"/>
      </a:defRPr>
    </a:lvl8pPr>
    <a:lvl9pPr indent="1828800" latinLnBrk="0">
      <a:defRPr sz="1200">
        <a:latin typeface="+mj-lt"/>
        <a:ea typeface="+mj-ea"/>
        <a:cs typeface="+mj-cs"/>
        <a:sym typeface="等线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제목 텍스트</a:t>
            </a:r>
          </a:p>
        </p:txBody>
      </p:sp>
      <p:sp>
        <p:nvSpPr>
          <p:cNvPr id="30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제목 텍스트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OPPOSans H"/>
          <a:ea typeface="OPPOSans H"/>
          <a:cs typeface="OPPOSans H"/>
          <a:sym typeface="OPPOSans H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POSans R"/>
          <a:ea typeface="OPPOSans R"/>
          <a:cs typeface="OPPOSans R"/>
          <a:sym typeface="OPPOSans 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POSans 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5"/>
          <p:cNvSpPr txBox="1"/>
          <p:nvPr/>
        </p:nvSpPr>
        <p:spPr>
          <a:xfrm>
            <a:off x="847025" y="3058500"/>
            <a:ext cx="484039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latin typeface="나눔스퀘어OTF Bold"/>
                <a:ea typeface="나눔스퀘어OTF Bold"/>
                <a:cs typeface="나눔스퀘어OTF Bold"/>
                <a:sym typeface="나눔스퀘어OTF Bold"/>
              </a:defRPr>
            </a:lvl1pPr>
          </a:lstStyle>
          <a:p>
            <a:r>
              <a:t>커머스사업팀</a:t>
            </a:r>
          </a:p>
        </p:txBody>
      </p:sp>
      <p:sp>
        <p:nvSpPr>
          <p:cNvPr id="141" name="矩形: 圆角 1"/>
          <p:cNvSpPr/>
          <p:nvPr/>
        </p:nvSpPr>
        <p:spPr>
          <a:xfrm>
            <a:off x="0" y="2452008"/>
            <a:ext cx="1872344" cy="203201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42" name="Rounded Rectangle 11"/>
          <p:cNvSpPr/>
          <p:nvPr/>
        </p:nvSpPr>
        <p:spPr>
          <a:xfrm>
            <a:off x="5482645" y="710342"/>
            <a:ext cx="1440260" cy="2380074"/>
          </a:xfrm>
          <a:prstGeom prst="roundRect">
            <a:avLst>
              <a:gd name="adj" fmla="val 4258"/>
            </a:avLst>
          </a:prstGeom>
          <a:solidFill>
            <a:srgbClr val="000000"/>
          </a:solidFill>
          <a:ln w="12700">
            <a:miter lim="400000"/>
          </a:ln>
          <a:effectLst>
            <a:outerShdw blurRad="1016000" dist="381000" dir="2100000" rotWithShape="0">
              <a:srgbClr val="000000">
                <a:alpha val="1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chemeClr val="accent3">
                    <a:lumOff val="44000"/>
                  </a:schemeClr>
                </a:solidFill>
                <a:latin typeface="OPPOSans H"/>
                <a:ea typeface="OPPOSans H"/>
                <a:cs typeface="OPPOSans H"/>
                <a:sym typeface="OPPOSans H"/>
              </a:defRPr>
            </a:pPr>
            <a:endParaRPr/>
          </a:p>
        </p:txBody>
      </p:sp>
      <p:sp>
        <p:nvSpPr>
          <p:cNvPr id="143" name="Rounded Rectangle 3"/>
          <p:cNvSpPr/>
          <p:nvPr/>
        </p:nvSpPr>
        <p:spPr>
          <a:xfrm>
            <a:off x="5733143" y="1288017"/>
            <a:ext cx="5871102" cy="4967641"/>
          </a:xfrm>
          <a:prstGeom prst="roundRect">
            <a:avLst>
              <a:gd name="adj" fmla="val 6317"/>
            </a:avLst>
          </a:prstGeom>
          <a:solidFill>
            <a:schemeClr val="accent3">
              <a:lumOff val="44000"/>
            </a:schemeClr>
          </a:solidFill>
          <a:ln w="12700">
            <a:miter lim="400000"/>
          </a:ln>
          <a:effectLst>
            <a:outerShdw blurRad="1016000" dist="381000" dir="2100000" rotWithShape="0">
              <a:srgbClr val="000000">
                <a:alpha val="1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44" name="标题 1"/>
          <p:cNvSpPr txBox="1"/>
          <p:nvPr/>
        </p:nvSpPr>
        <p:spPr>
          <a:xfrm>
            <a:off x="6224892" y="2438518"/>
            <a:ext cx="4922080" cy="80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400"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TV를 보다가 궁금한 상품이 생겼을 때,</a:t>
            </a:r>
          </a:p>
          <a:p>
            <a:pPr>
              <a:lnSpc>
                <a:spcPct val="150000"/>
              </a:lnSpc>
              <a:defRPr sz="1400"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리모컨 블루키 또는 음성 “저건 뭐야” 를 통해</a:t>
            </a:r>
          </a:p>
          <a:p>
            <a:pPr>
              <a:lnSpc>
                <a:spcPct val="150000"/>
              </a:lnSpc>
              <a:defRPr sz="1400"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AI가 분석한 화면 속 상품을 네이버+ 스토어 링크로 전달!</a:t>
            </a:r>
          </a:p>
        </p:txBody>
      </p:sp>
      <p:sp>
        <p:nvSpPr>
          <p:cNvPr id="145" name="标题 1"/>
          <p:cNvSpPr txBox="1"/>
          <p:nvPr/>
        </p:nvSpPr>
        <p:spPr>
          <a:xfrm>
            <a:off x="6224892" y="1954643"/>
            <a:ext cx="4922080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AI 커머스광고 서비스</a:t>
            </a:r>
          </a:p>
        </p:txBody>
      </p:sp>
      <p:sp>
        <p:nvSpPr>
          <p:cNvPr id="146" name="标题 1"/>
          <p:cNvSpPr txBox="1"/>
          <p:nvPr/>
        </p:nvSpPr>
        <p:spPr>
          <a:xfrm>
            <a:off x="6224892" y="4556402"/>
            <a:ext cx="4922080" cy="5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400"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방송에서 이슈가 된/될법한 화제의 아이템을 선정하여</a:t>
            </a:r>
          </a:p>
          <a:p>
            <a:pPr>
              <a:lnSpc>
                <a:spcPct val="150000"/>
              </a:lnSpc>
              <a:defRPr sz="1400"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가장 먼저 고객의 결과 화면에 노출시키는 키워드</a:t>
            </a:r>
          </a:p>
        </p:txBody>
      </p:sp>
      <p:sp>
        <p:nvSpPr>
          <p:cNvPr id="147" name="标题 1"/>
          <p:cNvSpPr txBox="1"/>
          <p:nvPr/>
        </p:nvSpPr>
        <p:spPr>
          <a:xfrm>
            <a:off x="6224892" y="4129678"/>
            <a:ext cx="4055941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lvl1pPr>
          </a:lstStyle>
          <a:p>
            <a:r>
              <a:t>매뉴얼 키워드</a:t>
            </a:r>
          </a:p>
        </p:txBody>
      </p:sp>
      <p:pic>
        <p:nvPicPr>
          <p:cNvPr id="148" name="그림 10" descr="그림 10"/>
          <p:cNvPicPr>
            <a:picLocks noChangeAspect="1"/>
          </p:cNvPicPr>
          <p:nvPr/>
        </p:nvPicPr>
        <p:blipFill>
          <a:blip r:embed="rId2"/>
          <a:srcRect t="33827" b="59807"/>
          <a:stretch>
            <a:fillRect/>
          </a:stretch>
        </p:blipFill>
        <p:spPr>
          <a:xfrm>
            <a:off x="6045773" y="5247001"/>
            <a:ext cx="3810496" cy="5258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CE98FEF-A3C8-8E70-7B18-0A3A50E2B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421" y="1274084"/>
            <a:ext cx="8624871" cy="4913482"/>
          </a:xfrm>
          <a:prstGeom prst="rect">
            <a:avLst/>
          </a:prstGeom>
        </p:spPr>
      </p:pic>
      <p:sp>
        <p:nvSpPr>
          <p:cNvPr id="6" name="矩形: 圆角 1">
            <a:extLst>
              <a:ext uri="{FF2B5EF4-FFF2-40B4-BE49-F238E27FC236}">
                <a16:creationId xmlns:a16="http://schemas.microsoft.com/office/drawing/2014/main" id="{1A467938-F774-27A1-1280-4E81DA98E478}"/>
              </a:ext>
            </a:extLst>
          </p:cNvPr>
          <p:cNvSpPr/>
          <p:nvPr/>
        </p:nvSpPr>
        <p:spPr>
          <a:xfrm>
            <a:off x="0" y="1070883"/>
            <a:ext cx="1872344" cy="203201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D0066-3BD7-6C8F-CDD1-09F144988613}"/>
              </a:ext>
            </a:extLst>
          </p:cNvPr>
          <p:cNvSpPr txBox="1"/>
          <p:nvPr/>
        </p:nvSpPr>
        <p:spPr>
          <a:xfrm>
            <a:off x="364331" y="391596"/>
            <a:ext cx="610076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Vision</a:t>
            </a:r>
            <a:r>
              <a:rPr lang="ko-KR" altLang="en-US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en-US" altLang="ko-KR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AI</a:t>
            </a:r>
            <a:r>
              <a:rPr lang="ko-KR" altLang="en-US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를 활용한 화면 분석 사례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8EA95-27FE-E230-72F3-8868375C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5" descr="그림 5">
            <a:extLst>
              <a:ext uri="{FF2B5EF4-FFF2-40B4-BE49-F238E27FC236}">
                <a16:creationId xmlns:a16="http://schemas.microsoft.com/office/drawing/2014/main" id="{C2B2661D-1273-E54B-D225-6893F551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1316616"/>
            <a:ext cx="8625600" cy="48519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矩形: 圆角 1">
            <a:extLst>
              <a:ext uri="{FF2B5EF4-FFF2-40B4-BE49-F238E27FC236}">
                <a16:creationId xmlns:a16="http://schemas.microsoft.com/office/drawing/2014/main" id="{51DA792B-9CFB-8B48-1F17-6F214DD15E73}"/>
              </a:ext>
            </a:extLst>
          </p:cNvPr>
          <p:cNvSpPr/>
          <p:nvPr/>
        </p:nvSpPr>
        <p:spPr>
          <a:xfrm>
            <a:off x="0" y="1070883"/>
            <a:ext cx="1872344" cy="203201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4905C-0AB8-6290-7806-4E7D5270F05A}"/>
              </a:ext>
            </a:extLst>
          </p:cNvPr>
          <p:cNvSpPr txBox="1"/>
          <p:nvPr/>
        </p:nvSpPr>
        <p:spPr>
          <a:xfrm>
            <a:off x="364331" y="391596"/>
            <a:ext cx="680799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B tv </a:t>
            </a:r>
            <a:r>
              <a:rPr lang="ko-KR" altLang="en-US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결과화면 내 매뉴얼 키워드</a:t>
            </a:r>
            <a:r>
              <a:rPr lang="en-US" altLang="ko-KR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altLang="en-US" sz="28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노출 형상</a:t>
            </a:r>
          </a:p>
        </p:txBody>
      </p:sp>
    </p:spTree>
    <p:extLst>
      <p:ext uri="{BB962C8B-B14F-4D97-AF65-F5344CB8AC3E}">
        <p14:creationId xmlns:p14="http://schemas.microsoft.com/office/powerpoint/2010/main" val="39206415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그림 2" descr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04" y="2572034"/>
            <a:ext cx="5245840" cy="3659186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文本框 28"/>
          <p:cNvSpPr txBox="1"/>
          <p:nvPr/>
        </p:nvSpPr>
        <p:spPr>
          <a:xfrm>
            <a:off x="694424" y="799859"/>
            <a:ext cx="88764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latin typeface="나눔스퀘어OTF Bold"/>
                <a:ea typeface="나눔스퀘어OTF Bold"/>
                <a:cs typeface="나눔스퀘어OTF Bold"/>
                <a:sym typeface="나눔스퀘어OTF Bold"/>
              </a:defRPr>
            </a:lvl1pPr>
          </a:lstStyle>
          <a:p>
            <a:r>
              <a:rPr lang="ko-KR" altLang="en-US" dirty="0"/>
              <a:t>매뉴얼 키워드 등록 </a:t>
            </a:r>
            <a:r>
              <a:rPr dirty="0" err="1"/>
              <a:t>방식</a:t>
            </a:r>
            <a:r>
              <a:rPr lang="en-US" dirty="0"/>
              <a:t> (As-is)</a:t>
            </a:r>
            <a:endParaRPr dirty="0"/>
          </a:p>
        </p:txBody>
      </p:sp>
      <p:sp>
        <p:nvSpPr>
          <p:cNvPr id="158" name="标题 1"/>
          <p:cNvSpPr/>
          <p:nvPr/>
        </p:nvSpPr>
        <p:spPr>
          <a:xfrm>
            <a:off x="648704" y="1727437"/>
            <a:ext cx="11132361" cy="112846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59" name="标题 1"/>
          <p:cNvSpPr txBox="1"/>
          <p:nvPr/>
        </p:nvSpPr>
        <p:spPr>
          <a:xfrm>
            <a:off x="648703" y="2254856"/>
            <a:ext cx="5711094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1. 채널S 편성표 확인하기 </a:t>
            </a:r>
          </a:p>
        </p:txBody>
      </p:sp>
      <p:sp>
        <p:nvSpPr>
          <p:cNvPr id="160" name="标题 1"/>
          <p:cNvSpPr txBox="1"/>
          <p:nvPr/>
        </p:nvSpPr>
        <p:spPr>
          <a:xfrm>
            <a:off x="3240453" y="4819461"/>
            <a:ext cx="5711093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lvl1pPr>
          </a:lstStyle>
          <a:p>
            <a:r>
              <a:t>적합한 상품을 찾을 때까지 위 과정을 무한히 반복하기</a:t>
            </a:r>
          </a:p>
        </p:txBody>
      </p:sp>
      <p:sp>
        <p:nvSpPr>
          <p:cNvPr id="161" name="标题 1"/>
          <p:cNvSpPr txBox="1"/>
          <p:nvPr/>
        </p:nvSpPr>
        <p:spPr>
          <a:xfrm>
            <a:off x="6297457" y="2246278"/>
            <a:ext cx="571109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rPr dirty="0"/>
              <a:t>2. </a:t>
            </a:r>
            <a:r>
              <a:rPr lang="ko-KR" altLang="en-US" dirty="0"/>
              <a:t>방영</a:t>
            </a:r>
            <a:r>
              <a:rPr dirty="0"/>
              <a:t> </a:t>
            </a:r>
            <a:r>
              <a:rPr dirty="0" err="1"/>
              <a:t>회차에</a:t>
            </a:r>
            <a:r>
              <a:rPr dirty="0"/>
              <a:t> </a:t>
            </a:r>
            <a:r>
              <a:rPr dirty="0" err="1"/>
              <a:t>나오는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검색하기</a:t>
            </a:r>
            <a:r>
              <a:rPr lang="en-US" dirty="0"/>
              <a:t> </a:t>
            </a:r>
            <a:r>
              <a:rPr lang="en-US" sz="1600" dirty="0"/>
              <a:t>(</a:t>
            </a:r>
            <a:r>
              <a:rPr lang="ko-KR" altLang="en-US" sz="1600" dirty="0"/>
              <a:t>뉴스</a:t>
            </a:r>
            <a:r>
              <a:rPr lang="en-US" altLang="ko-KR" sz="1600" dirty="0"/>
              <a:t>, </a:t>
            </a:r>
            <a:r>
              <a:rPr lang="ko-KR" altLang="en-US" sz="1600" dirty="0"/>
              <a:t>블로그</a:t>
            </a:r>
            <a:r>
              <a:rPr lang="en-US" altLang="ko-KR" sz="1600" dirty="0"/>
              <a:t>, </a:t>
            </a:r>
            <a:r>
              <a:rPr lang="ko-KR" altLang="en-US" sz="1600" dirty="0"/>
              <a:t>유튜브</a:t>
            </a:r>
            <a:r>
              <a:rPr lang="en-US" altLang="ko-KR" sz="1600" dirty="0"/>
              <a:t>)</a:t>
            </a:r>
            <a:r>
              <a:rPr sz="1600" dirty="0"/>
              <a:t> </a:t>
            </a:r>
            <a:endParaRPr dirty="0"/>
          </a:p>
        </p:txBody>
      </p:sp>
      <p:pic>
        <p:nvPicPr>
          <p:cNvPr id="162" name="그림 5" descr="그림 5"/>
          <p:cNvPicPr>
            <a:picLocks noChangeAspect="1"/>
          </p:cNvPicPr>
          <p:nvPr/>
        </p:nvPicPr>
        <p:blipFill>
          <a:blip r:embed="rId3"/>
          <a:srcRect t="1" b="17245"/>
          <a:stretch>
            <a:fillRect/>
          </a:stretch>
        </p:blipFill>
        <p:spPr>
          <a:xfrm>
            <a:off x="6297457" y="2571997"/>
            <a:ext cx="5483607" cy="37421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그림 2" descr="그림 2"/>
          <p:cNvPicPr>
            <a:picLocks noChangeAspect="1"/>
          </p:cNvPicPr>
          <p:nvPr/>
        </p:nvPicPr>
        <p:blipFill>
          <a:blip r:embed="rId2"/>
          <a:srcRect b="46533"/>
          <a:stretch>
            <a:fillRect/>
          </a:stretch>
        </p:blipFill>
        <p:spPr>
          <a:xfrm>
            <a:off x="648704" y="2571998"/>
            <a:ext cx="5245840" cy="1956482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文本框 28"/>
          <p:cNvSpPr txBox="1"/>
          <p:nvPr/>
        </p:nvSpPr>
        <p:spPr>
          <a:xfrm>
            <a:off x="694424" y="799859"/>
            <a:ext cx="88764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latin typeface="나눔스퀘어OTF Bold"/>
                <a:ea typeface="나눔스퀘어OTF Bold"/>
                <a:cs typeface="나눔스퀘어OTF Bold"/>
                <a:sym typeface="나눔스퀘어OTF Bold"/>
              </a:defRPr>
            </a:lvl1pPr>
          </a:lstStyle>
          <a:p>
            <a:r>
              <a:rPr lang="ko-KR" altLang="en-US" dirty="0"/>
              <a:t>매뉴얼 키워드 등록 방식 </a:t>
            </a:r>
            <a:r>
              <a:rPr lang="en-US" altLang="ko-KR" dirty="0"/>
              <a:t>(As-is)</a:t>
            </a:r>
            <a:endParaRPr lang="ko-KR" altLang="en-US" dirty="0"/>
          </a:p>
        </p:txBody>
      </p:sp>
      <p:sp>
        <p:nvSpPr>
          <p:cNvPr id="166" name="标题 1"/>
          <p:cNvSpPr/>
          <p:nvPr/>
        </p:nvSpPr>
        <p:spPr>
          <a:xfrm>
            <a:off x="648704" y="1727437"/>
            <a:ext cx="11132361" cy="112846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67" name="标题 1"/>
          <p:cNvSpPr txBox="1"/>
          <p:nvPr/>
        </p:nvSpPr>
        <p:spPr>
          <a:xfrm>
            <a:off x="648703" y="2254856"/>
            <a:ext cx="5711094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1. 채널S 편성표 확인하기 </a:t>
            </a:r>
          </a:p>
        </p:txBody>
      </p:sp>
      <p:sp>
        <p:nvSpPr>
          <p:cNvPr id="168" name="标题 1"/>
          <p:cNvSpPr/>
          <p:nvPr/>
        </p:nvSpPr>
        <p:spPr>
          <a:xfrm>
            <a:off x="0" y="4496189"/>
            <a:ext cx="12192000" cy="874098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69" name="标题 1"/>
          <p:cNvSpPr txBox="1"/>
          <p:nvPr/>
        </p:nvSpPr>
        <p:spPr>
          <a:xfrm>
            <a:off x="648703" y="5575882"/>
            <a:ext cx="11132362" cy="656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여기서 끝이 아니다!</a:t>
            </a:r>
          </a:p>
          <a:p>
            <a:pPr algn="r">
              <a:lnSpc>
                <a:spcPct val="15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화제가 될만한 키워드를 찾은 다음에는….</a:t>
            </a:r>
          </a:p>
        </p:txBody>
      </p:sp>
      <p:sp>
        <p:nvSpPr>
          <p:cNvPr id="170" name="标题 1"/>
          <p:cNvSpPr txBox="1"/>
          <p:nvPr/>
        </p:nvSpPr>
        <p:spPr>
          <a:xfrm>
            <a:off x="2490382" y="4790996"/>
            <a:ext cx="7211236" cy="28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2000">
                <a:solidFill>
                  <a:schemeClr val="accent3">
                    <a:lumOff val="44000"/>
                  </a:schemeClr>
                </a:solidFill>
                <a:latin typeface="나눔스퀘어OTF Bold"/>
                <a:ea typeface="나눔스퀘어OTF Bold"/>
                <a:cs typeface="나눔스퀘어OTF Bold"/>
                <a:sym typeface="나눔스퀘어OTF Bold"/>
              </a:defRPr>
            </a:pPr>
            <a:r>
              <a:t>Pain Point ① </a:t>
            </a:r>
            <a:r>
              <a:rPr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적합한 상품을 찾을 때까지 위 과정을 반복</a:t>
            </a:r>
          </a:p>
        </p:txBody>
      </p:sp>
      <p:pic>
        <p:nvPicPr>
          <p:cNvPr id="172" name="그림 5" descr="그림 5"/>
          <p:cNvPicPr>
            <a:picLocks noChangeAspect="1"/>
          </p:cNvPicPr>
          <p:nvPr/>
        </p:nvPicPr>
        <p:blipFill>
          <a:blip r:embed="rId3"/>
          <a:srcRect b="57449"/>
          <a:stretch>
            <a:fillRect/>
          </a:stretch>
        </p:blipFill>
        <p:spPr>
          <a:xfrm>
            <a:off x="6297457" y="2571998"/>
            <a:ext cx="5483607" cy="192419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E3D4E2C9-75B4-0FE2-E823-CA556CDDC9F0}"/>
              </a:ext>
            </a:extLst>
          </p:cNvPr>
          <p:cNvSpPr txBox="1"/>
          <p:nvPr/>
        </p:nvSpPr>
        <p:spPr>
          <a:xfrm>
            <a:off x="6297457" y="2246278"/>
            <a:ext cx="571109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rPr dirty="0"/>
              <a:t>2. </a:t>
            </a:r>
            <a:r>
              <a:rPr lang="ko-KR" altLang="en-US" dirty="0"/>
              <a:t>방영</a:t>
            </a:r>
            <a:r>
              <a:rPr dirty="0"/>
              <a:t> </a:t>
            </a:r>
            <a:r>
              <a:rPr dirty="0" err="1"/>
              <a:t>회차에</a:t>
            </a:r>
            <a:r>
              <a:rPr dirty="0"/>
              <a:t> </a:t>
            </a:r>
            <a:r>
              <a:rPr dirty="0" err="1"/>
              <a:t>나오는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검색하기</a:t>
            </a:r>
            <a:r>
              <a:rPr lang="en-US" dirty="0"/>
              <a:t> </a:t>
            </a:r>
            <a:r>
              <a:rPr lang="en-US" sz="1600" dirty="0"/>
              <a:t>(</a:t>
            </a:r>
            <a:r>
              <a:rPr lang="ko-KR" altLang="en-US" sz="1600" dirty="0"/>
              <a:t>뉴스</a:t>
            </a:r>
            <a:r>
              <a:rPr lang="en-US" altLang="ko-KR" sz="1600" dirty="0"/>
              <a:t>, </a:t>
            </a:r>
            <a:r>
              <a:rPr lang="ko-KR" altLang="en-US" sz="1600" dirty="0"/>
              <a:t>블로그</a:t>
            </a:r>
            <a:r>
              <a:rPr lang="en-US" altLang="ko-KR" sz="1600" dirty="0"/>
              <a:t>, </a:t>
            </a:r>
            <a:r>
              <a:rPr lang="ko-KR" altLang="en-US" sz="1600" dirty="0"/>
              <a:t>유튜브</a:t>
            </a:r>
            <a:r>
              <a:rPr lang="en-US" altLang="ko-KR" sz="1600" dirty="0"/>
              <a:t>)</a:t>
            </a:r>
            <a:r>
              <a:rPr sz="1600" dirty="0"/>
              <a:t> 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그림 18" descr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264" y="2620123"/>
            <a:ext cx="5482800" cy="39170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그림 2" descr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4" y="2572034"/>
            <a:ext cx="2664361" cy="36591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그림 4" descr="그림 4"/>
          <p:cNvPicPr>
            <a:picLocks noChangeAspect="1"/>
          </p:cNvPicPr>
          <p:nvPr/>
        </p:nvPicPr>
        <p:blipFill>
          <a:blip r:embed="rId4"/>
          <a:srcRect b="29609"/>
          <a:stretch>
            <a:fillRect/>
          </a:stretch>
        </p:blipFill>
        <p:spPr>
          <a:xfrm>
            <a:off x="746828" y="2698365"/>
            <a:ext cx="2484001" cy="3790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그림 10" descr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64" y="2572033"/>
            <a:ext cx="2581481" cy="3659186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标题 1"/>
          <p:cNvSpPr txBox="1"/>
          <p:nvPr/>
        </p:nvSpPr>
        <p:spPr>
          <a:xfrm>
            <a:off x="648703" y="2254856"/>
            <a:ext cx="5711094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3. 네이버+ 스토어 검색 결과 확인하기</a:t>
            </a:r>
          </a:p>
        </p:txBody>
      </p:sp>
      <p:sp>
        <p:nvSpPr>
          <p:cNvPr id="179" name="文本框 28"/>
          <p:cNvSpPr txBox="1"/>
          <p:nvPr/>
        </p:nvSpPr>
        <p:spPr>
          <a:xfrm>
            <a:off x="694424" y="799859"/>
            <a:ext cx="88764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latin typeface="나눔스퀘어OTF Bold"/>
                <a:ea typeface="나눔스퀘어OTF Bold"/>
                <a:cs typeface="나눔스퀘어OTF Bold"/>
                <a:sym typeface="나눔스퀘어OTF Bold"/>
              </a:defRPr>
            </a:lvl1pPr>
          </a:lstStyle>
          <a:p>
            <a:r>
              <a:rPr lang="ko-KR" altLang="en-US" dirty="0"/>
              <a:t>매뉴얼 키워드 등록 방식 </a:t>
            </a:r>
            <a:r>
              <a:rPr lang="en-US" altLang="ko-KR" dirty="0"/>
              <a:t>(As-is)</a:t>
            </a:r>
            <a:endParaRPr lang="ko-KR" altLang="en-US" dirty="0"/>
          </a:p>
        </p:txBody>
      </p:sp>
      <p:sp>
        <p:nvSpPr>
          <p:cNvPr id="180" name="标题 1"/>
          <p:cNvSpPr/>
          <p:nvPr/>
        </p:nvSpPr>
        <p:spPr>
          <a:xfrm>
            <a:off x="648704" y="1727437"/>
            <a:ext cx="11132361" cy="112846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81" name="标题 1"/>
          <p:cNvSpPr txBox="1"/>
          <p:nvPr/>
        </p:nvSpPr>
        <p:spPr>
          <a:xfrm>
            <a:off x="6297457" y="2254856"/>
            <a:ext cx="5711093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4. Postman으로 API 호출하기 </a:t>
            </a:r>
          </a:p>
        </p:txBody>
      </p:sp>
      <p:pic>
        <p:nvPicPr>
          <p:cNvPr id="182" name="그림 7" descr="그림 7"/>
          <p:cNvPicPr>
            <a:picLocks noChangeAspect="1"/>
          </p:cNvPicPr>
          <p:nvPr/>
        </p:nvPicPr>
        <p:blipFill>
          <a:blip r:embed="rId5"/>
          <a:srcRect b="29609"/>
          <a:stretch>
            <a:fillRect/>
          </a:stretch>
        </p:blipFill>
        <p:spPr>
          <a:xfrm>
            <a:off x="3361804" y="2698367"/>
            <a:ext cx="2484001" cy="3790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그림 18" descr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264" y="2620123"/>
            <a:ext cx="5482800" cy="39170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그림 2" descr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4" y="2572034"/>
            <a:ext cx="2664361" cy="36591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그림 4" descr="그림 4"/>
          <p:cNvPicPr>
            <a:picLocks noChangeAspect="1"/>
          </p:cNvPicPr>
          <p:nvPr/>
        </p:nvPicPr>
        <p:blipFill>
          <a:blip r:embed="rId4"/>
          <a:srcRect b="29609"/>
          <a:stretch>
            <a:fillRect/>
          </a:stretch>
        </p:blipFill>
        <p:spPr>
          <a:xfrm>
            <a:off x="746828" y="2698365"/>
            <a:ext cx="2484001" cy="3790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그림 10" descr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64" y="2572033"/>
            <a:ext cx="2581481" cy="3659186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标题 1"/>
          <p:cNvSpPr txBox="1"/>
          <p:nvPr/>
        </p:nvSpPr>
        <p:spPr>
          <a:xfrm>
            <a:off x="648703" y="2254856"/>
            <a:ext cx="5711094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3. 네이버+ 스토어 검색 결과 확인하기</a:t>
            </a:r>
          </a:p>
        </p:txBody>
      </p:sp>
      <p:sp>
        <p:nvSpPr>
          <p:cNvPr id="189" name="文本框 28"/>
          <p:cNvSpPr txBox="1"/>
          <p:nvPr/>
        </p:nvSpPr>
        <p:spPr>
          <a:xfrm>
            <a:off x="694424" y="799859"/>
            <a:ext cx="88764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latin typeface="나눔스퀘어OTF Bold"/>
                <a:ea typeface="나눔스퀘어OTF Bold"/>
                <a:cs typeface="나눔스퀘어OTF Bold"/>
                <a:sym typeface="나눔스퀘어OTF Bold"/>
              </a:defRPr>
            </a:lvl1pPr>
          </a:lstStyle>
          <a:p>
            <a:r>
              <a:rPr lang="ko-KR" altLang="en-US" dirty="0"/>
              <a:t>매뉴얼 키워드 등록 방식 </a:t>
            </a:r>
            <a:r>
              <a:rPr lang="en-US" altLang="ko-KR" dirty="0"/>
              <a:t>(As-is)</a:t>
            </a:r>
            <a:endParaRPr lang="ko-KR" altLang="en-US" dirty="0"/>
          </a:p>
        </p:txBody>
      </p:sp>
      <p:sp>
        <p:nvSpPr>
          <p:cNvPr id="190" name="标题 1"/>
          <p:cNvSpPr/>
          <p:nvPr/>
        </p:nvSpPr>
        <p:spPr>
          <a:xfrm>
            <a:off x="648704" y="1727437"/>
            <a:ext cx="11132361" cy="112846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91" name="标题 1"/>
          <p:cNvSpPr txBox="1"/>
          <p:nvPr/>
        </p:nvSpPr>
        <p:spPr>
          <a:xfrm>
            <a:off x="6297457" y="2254856"/>
            <a:ext cx="5711093" cy="25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4. Postman으로 API 호출하기 </a:t>
            </a:r>
          </a:p>
        </p:txBody>
      </p:sp>
      <p:pic>
        <p:nvPicPr>
          <p:cNvPr id="192" name="그림 7" descr="그림 7"/>
          <p:cNvPicPr>
            <a:picLocks noChangeAspect="1"/>
          </p:cNvPicPr>
          <p:nvPr/>
        </p:nvPicPr>
        <p:blipFill>
          <a:blip r:embed="rId5"/>
          <a:srcRect b="29609"/>
          <a:stretch>
            <a:fillRect/>
          </a:stretch>
        </p:blipFill>
        <p:spPr>
          <a:xfrm>
            <a:off x="3361804" y="2698367"/>
            <a:ext cx="2484001" cy="379064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标题 1"/>
          <p:cNvSpPr/>
          <p:nvPr/>
        </p:nvSpPr>
        <p:spPr>
          <a:xfrm>
            <a:off x="0" y="4496189"/>
            <a:ext cx="12192000" cy="874098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194" name="标题 1"/>
          <p:cNvSpPr txBox="1"/>
          <p:nvPr/>
        </p:nvSpPr>
        <p:spPr>
          <a:xfrm>
            <a:off x="1898523" y="4782257"/>
            <a:ext cx="863272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2000">
                <a:solidFill>
                  <a:schemeClr val="accent3">
                    <a:lumOff val="44000"/>
                  </a:schemeClr>
                </a:solidFill>
                <a:latin typeface="나눔스퀘어OTF Bold"/>
                <a:ea typeface="나눔스퀘어OTF Bold"/>
                <a:cs typeface="나눔스퀘어OTF Bold"/>
                <a:sym typeface="나눔스퀘어OTF Bold"/>
              </a:defRPr>
            </a:pPr>
            <a:r>
              <a:rPr dirty="0"/>
              <a:t>Pain Point ② </a:t>
            </a:r>
            <a:r>
              <a:rPr dirty="0" err="1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매번</a:t>
            </a:r>
            <a:r>
              <a:rPr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 </a:t>
            </a:r>
            <a:r>
              <a:rPr dirty="0" err="1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난수</a:t>
            </a:r>
            <a:r>
              <a:rPr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 </a:t>
            </a:r>
            <a:r>
              <a:rPr dirty="0" err="1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번호를</a:t>
            </a:r>
            <a:r>
              <a:rPr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 </a:t>
            </a:r>
            <a:r>
              <a:rPr dirty="0" err="1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생성하고</a:t>
            </a:r>
            <a:r>
              <a:rPr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, </a:t>
            </a:r>
            <a:r>
              <a:rPr dirty="0" err="1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콘텐츠명</a:t>
            </a:r>
            <a:r>
              <a:rPr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, CS </a:t>
            </a:r>
            <a:r>
              <a:rPr lang="en-US"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ID</a:t>
            </a:r>
            <a:r>
              <a:rPr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, </a:t>
            </a:r>
            <a:r>
              <a:rPr dirty="0" err="1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상품명</a:t>
            </a:r>
            <a:r>
              <a:rPr dirty="0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 </a:t>
            </a:r>
            <a:r>
              <a:rPr dirty="0" err="1"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교체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任意多边形: 形状 17"/>
          <p:cNvSpPr/>
          <p:nvPr/>
        </p:nvSpPr>
        <p:spPr>
          <a:xfrm>
            <a:off x="7460342" y="0"/>
            <a:ext cx="4731658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79" h="21600" extrusionOk="0">
                <a:moveTo>
                  <a:pt x="13659" y="0"/>
                </a:moveTo>
                <a:lnTo>
                  <a:pt x="20779" y="0"/>
                </a:lnTo>
                <a:lnTo>
                  <a:pt x="20779" y="21600"/>
                </a:lnTo>
                <a:lnTo>
                  <a:pt x="8894" y="21600"/>
                </a:lnTo>
                <a:lnTo>
                  <a:pt x="10576" y="21344"/>
                </a:lnTo>
                <a:cubicBezTo>
                  <a:pt x="12342" y="21055"/>
                  <a:pt x="14076" y="20685"/>
                  <a:pt x="14654" y="20174"/>
                </a:cubicBezTo>
                <a:cubicBezTo>
                  <a:pt x="16197" y="18813"/>
                  <a:pt x="17893" y="15253"/>
                  <a:pt x="15939" y="14228"/>
                </a:cubicBezTo>
                <a:cubicBezTo>
                  <a:pt x="13986" y="13203"/>
                  <a:pt x="4980" y="14525"/>
                  <a:pt x="2932" y="14026"/>
                </a:cubicBezTo>
                <a:cubicBezTo>
                  <a:pt x="884" y="13527"/>
                  <a:pt x="1621" y="11814"/>
                  <a:pt x="3652" y="11234"/>
                </a:cubicBezTo>
                <a:cubicBezTo>
                  <a:pt x="5683" y="10655"/>
                  <a:pt x="13463" y="11545"/>
                  <a:pt x="15117" y="10547"/>
                </a:cubicBezTo>
                <a:cubicBezTo>
                  <a:pt x="16771" y="9549"/>
                  <a:pt x="15914" y="6144"/>
                  <a:pt x="13574" y="5247"/>
                </a:cubicBezTo>
                <a:cubicBezTo>
                  <a:pt x="11235" y="4351"/>
                  <a:pt x="2984" y="5585"/>
                  <a:pt x="1081" y="5167"/>
                </a:cubicBezTo>
                <a:cubicBezTo>
                  <a:pt x="-821" y="4749"/>
                  <a:pt x="-58" y="3178"/>
                  <a:pt x="2161" y="2739"/>
                </a:cubicBezTo>
                <a:cubicBezTo>
                  <a:pt x="4380" y="2301"/>
                  <a:pt x="12469" y="2982"/>
                  <a:pt x="14397" y="2537"/>
                </a:cubicBezTo>
                <a:cubicBezTo>
                  <a:pt x="16325" y="2092"/>
                  <a:pt x="14183" y="771"/>
                  <a:pt x="13729" y="69"/>
                </a:cubicBezTo>
                <a:close/>
              </a:path>
            </a:pathLst>
          </a:custGeom>
          <a:solidFill>
            <a:srgbClr val="000000">
              <a:alpha val="19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528" name="椭圆 7"/>
          <p:cNvSpPr/>
          <p:nvPr/>
        </p:nvSpPr>
        <p:spPr>
          <a:xfrm>
            <a:off x="9027886" y="1866900"/>
            <a:ext cx="1219201" cy="1219200"/>
          </a:xfrm>
          <a:prstGeom prst="ellipse">
            <a:avLst/>
          </a:prstGeom>
          <a:solidFill>
            <a:srgbClr val="404040"/>
          </a:solidFill>
          <a:ln w="12700">
            <a:miter lim="400000"/>
          </a:ln>
          <a:effectLst>
            <a:outerShdw blurRad="63500" rotWithShape="0">
              <a:srgbClr val="000000">
                <a:alpha val="42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529" name="矩形: 圆角 8"/>
          <p:cNvSpPr/>
          <p:nvPr/>
        </p:nvSpPr>
        <p:spPr>
          <a:xfrm>
            <a:off x="9042399" y="5638798"/>
            <a:ext cx="1567544" cy="120064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  <p:sp>
        <p:nvSpPr>
          <p:cNvPr id="530" name="任意多边形: 形状 26"/>
          <p:cNvSpPr/>
          <p:nvPr/>
        </p:nvSpPr>
        <p:spPr>
          <a:xfrm>
            <a:off x="1" y="6274370"/>
            <a:ext cx="958851" cy="583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194" y="0"/>
                </a:lnTo>
                <a:cubicBezTo>
                  <a:pt x="20523" y="0"/>
                  <a:pt x="21600" y="4825"/>
                  <a:pt x="21600" y="1077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531" name="Rectangle 10"/>
          <p:cNvSpPr txBox="1"/>
          <p:nvPr/>
        </p:nvSpPr>
        <p:spPr>
          <a:xfrm>
            <a:off x="865047" y="1860779"/>
            <a:ext cx="6937466" cy="932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sz="6000"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r>
              <a:t>감사합니다.</a:t>
            </a:r>
          </a:p>
        </p:txBody>
      </p:sp>
      <p:sp>
        <p:nvSpPr>
          <p:cNvPr id="532" name="标题 1"/>
          <p:cNvSpPr/>
          <p:nvPr/>
        </p:nvSpPr>
        <p:spPr>
          <a:xfrm>
            <a:off x="958850" y="1492356"/>
            <a:ext cx="1547214" cy="6673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07070"/>
      </a:accent1>
      <a:accent2>
        <a:srgbClr val="F7C67F"/>
      </a:accent2>
      <a:accent3>
        <a:srgbClr val="8F8F8F"/>
      </a:accent3>
      <a:accent4>
        <a:srgbClr val="919191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主题​​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19050" cap="flat">
          <a:solidFill>
            <a:srgbClr val="000000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POSans R"/>
            <a:ea typeface="OPPOSans R"/>
            <a:cs typeface="OPPOSans R"/>
            <a:sym typeface="OPPOSans 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rgbClr val="000000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POSans R"/>
            <a:ea typeface="OPPOSans R"/>
            <a:cs typeface="OPPOSans R"/>
            <a:sym typeface="OPPOSans 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07070"/>
      </a:accent1>
      <a:accent2>
        <a:srgbClr val="F7C67F"/>
      </a:accent2>
      <a:accent3>
        <a:srgbClr val="8F8F8F"/>
      </a:accent3>
      <a:accent4>
        <a:srgbClr val="919191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主题​​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19050" cap="flat">
          <a:solidFill>
            <a:srgbClr val="000000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POSans R"/>
            <a:ea typeface="OPPOSans R"/>
            <a:cs typeface="OPPOSans R"/>
            <a:sym typeface="OPPOSans 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rgbClr val="000000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POSans R"/>
            <a:ea typeface="OPPOSans R"/>
            <a:cs typeface="OPPOSans R"/>
            <a:sym typeface="OPPOSans 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207</Words>
  <Application>Microsoft Office PowerPoint</Application>
  <PresentationFormat>와이드스크린</PresentationFormat>
  <Paragraphs>28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等线</vt:lpstr>
      <vt:lpstr>OPPOSans H</vt:lpstr>
      <vt:lpstr>OPPOSans R</vt:lpstr>
      <vt:lpstr>나눔스퀘어OTF</vt:lpstr>
      <vt:lpstr>나눔스퀘어OTF Regular</vt:lpstr>
      <vt:lpstr>Arial</vt:lpstr>
      <vt:lpstr>Office 主题​​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영은 권</cp:lastModifiedBy>
  <cp:revision>14</cp:revision>
  <dcterms:modified xsi:type="dcterms:W3CDTF">2026-09-16T10:26:10Z</dcterms:modified>
</cp:coreProperties>
</file>